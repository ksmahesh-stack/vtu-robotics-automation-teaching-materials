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256" r:id="rId2"/>
    <p:sldId id="257" r:id="rId3"/>
    <p:sldId id="258" r:id="rId4"/>
    <p:sldId id="289" r:id="rId5"/>
    <p:sldId id="265" r:id="rId6"/>
    <p:sldId id="259" r:id="rId7"/>
    <p:sldId id="280" r:id="rId8"/>
    <p:sldId id="293" r:id="rId9"/>
    <p:sldId id="260" r:id="rId10"/>
    <p:sldId id="261" r:id="rId11"/>
    <p:sldId id="262" r:id="rId12"/>
    <p:sldId id="290" r:id="rId13"/>
    <p:sldId id="291" r:id="rId14"/>
    <p:sldId id="263" r:id="rId15"/>
    <p:sldId id="292" r:id="rId16"/>
    <p:sldId id="264" r:id="rId17"/>
    <p:sldId id="266" r:id="rId18"/>
    <p:sldId id="267" r:id="rId19"/>
    <p:sldId id="294" r:id="rId20"/>
    <p:sldId id="295" r:id="rId21"/>
    <p:sldId id="268" r:id="rId22"/>
    <p:sldId id="269" r:id="rId23"/>
    <p:sldId id="297" r:id="rId24"/>
    <p:sldId id="296" r:id="rId25"/>
    <p:sldId id="270" r:id="rId26"/>
    <p:sldId id="299" r:id="rId27"/>
    <p:sldId id="298" r:id="rId28"/>
    <p:sldId id="301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9" r:id="rId37"/>
    <p:sldId id="278" r:id="rId38"/>
    <p:sldId id="281" r:id="rId39"/>
    <p:sldId id="283" r:id="rId40"/>
    <p:sldId id="282" r:id="rId41"/>
    <p:sldId id="284" r:id="rId42"/>
    <p:sldId id="285" r:id="rId43"/>
    <p:sldId id="286" r:id="rId44"/>
    <p:sldId id="287" r:id="rId45"/>
    <p:sldId id="288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6F759-5A49-4D7C-AF44-03B8BE617A71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59941-AD16-4559-A548-A08A73AA5D5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662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59941-AD16-4559-A548-A08A73AA5D59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901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59941-AD16-4559-A548-A08A73AA5D59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209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492E-3747-4709-1C7D-8A5D5D4B0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81A13D-8C4E-2E19-826E-2754724DB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8CE86-C02D-D685-9F2C-B9BDC50E7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BF311-728B-5B25-03B3-78B864CF1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FBE3E-4CED-8487-BAA4-83129A846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258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ED80D-78C0-FB0C-20C1-6C0CD4892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A3F788-9AFD-2F6F-4A4F-15D010405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63027-6B02-5865-4F06-B10EFDEA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311F6-0AA7-7BF3-54E6-7F0AAC9E5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70DCD-F08D-86C4-E919-BEBF941A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4505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D7AA1-8758-E456-E2C7-0BD3DED8D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9F448-1A12-C234-7ED9-9FE1524607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E5814-B5E2-7A60-869C-C4CF3B25D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1F672-E872-B9B2-DF5C-4B350AD12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CAC114-1B46-4EF9-4E17-06982D84B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484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8A38C-92CE-9FFD-848B-547797E6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3B36D-71E2-E5E3-3112-AA5FACEE82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B4B4E0-4D63-4035-D2CC-C0D741903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71FE2-B234-3890-DC7A-762E074FC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2CAD7-5F90-54DD-9D3B-4738DD98D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E204B-DB9B-97D9-2F27-4FF84081B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481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6ECC7-2A22-349B-EE8C-6E15953A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AFFD59-A44A-CB6C-3044-6B2B234B2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D7F37-9E68-7ED6-BA82-ED46F6E61A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3E61BC-9412-2D65-1417-B4F08A6D07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76E848-18DB-D06B-4606-D068EB2AF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FA70E7-C6A9-0BB7-09DA-890864BB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BDE3F6-1F34-795F-0A8F-B9A1A623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7DEE0C-1614-8D33-5185-4BDF2C104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69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0B354-B499-4708-DFEC-DCCC00F962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4170B3-13DC-C335-5F89-B07B584D2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97A052-B77B-07A0-0DAE-DB9037B32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A7D80D-4082-BE11-C94E-C36CFDBFF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9487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427AC-B7B9-9C19-5F57-ACF57B214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280F65-5E78-D0A4-C90C-784469F9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77918-BBA2-FF72-AE59-98BCEB90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10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B04F-7866-6544-B364-4F965556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69357-D069-61F2-C29D-BBB9A1704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D0712F-89CD-2D1C-631E-5E3BB41D8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FAC7A7-EC86-3775-9D6F-BBFE2BE45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ACA96-1744-6856-F205-A3FF2CEA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A08AF-01FC-090D-0F62-8B3871EC9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9413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4DB06-D4D0-88D8-E28D-CDADDE758D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29441C-83D6-9E99-4650-A90C1BC421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4E5CE0-2289-F8F0-FCDC-1ECB93A19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E0226A-C9D1-437A-7DE3-9A33CE307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6958A-AED9-1298-CD84-1DFA79232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C041D-3252-27FE-4B06-A91991904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483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7CBAF-6B93-2BD9-57AE-DEE46B47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328EFC-E807-A05A-0226-9E5A88E361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B5B07-5E70-B357-0D4D-9AC5EA92C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F117F6-A282-DC84-D039-C5AB1C97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BB2CA-8444-DEDB-AFFB-A0B4DDA63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451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FBD277-19F5-D67B-3CF0-4EBA541DFC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F8C619-134E-CB65-1EC1-37F8A18EB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A9623-4590-1BFE-669D-03441B96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1D52F-379C-6693-EC98-E2F27D79D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D714D-9D60-03FA-166F-90C3111A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4453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EF0BF-3D79-8E6A-3803-8C633632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1F1680-ECB5-5D10-22CA-EF3CC817B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2DEA9-7D3F-CD77-D3EF-8A9520DD30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39333-8D60-4FCE-AFCE-B0C152B9AC5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5920A-2F80-5FDF-EB99-06CC98D144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31C1C-F594-C349-FE30-E5ED9BF027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CFDBB3-8825-481B-897E-860037520D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45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6D6A24-F7D0-7DFE-80F7-656260D7EE80}"/>
              </a:ext>
            </a:extLst>
          </p:cNvPr>
          <p:cNvSpPr txBox="1"/>
          <p:nvPr/>
        </p:nvSpPr>
        <p:spPr>
          <a:xfrm>
            <a:off x="2778101" y="2105561"/>
            <a:ext cx="663579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0" i="0" u="none" strike="noStrike" baseline="0" dirty="0">
                <a:latin typeface="+mj-lt"/>
              </a:rPr>
              <a:t>BRA714B</a:t>
            </a:r>
            <a:r>
              <a:rPr lang="en-IN" sz="4000" dirty="0">
                <a:latin typeface="+mj-lt"/>
              </a:rPr>
              <a:t> </a:t>
            </a:r>
          </a:p>
          <a:p>
            <a:pPr algn="ctr"/>
            <a:r>
              <a:rPr lang="en-IN" sz="4000" dirty="0">
                <a:latin typeface="+mj-lt"/>
              </a:rPr>
              <a:t>MICRO AND NANO ROBOTICS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170416-3CCB-2754-7023-837BFBEB6E0B}"/>
              </a:ext>
            </a:extLst>
          </p:cNvPr>
          <p:cNvSpPr txBox="1"/>
          <p:nvPr/>
        </p:nvSpPr>
        <p:spPr>
          <a:xfrm>
            <a:off x="0" y="0"/>
            <a:ext cx="213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Semester 07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C2CD03-DF55-48AA-B6C6-A8C3D1A9F033}"/>
              </a:ext>
            </a:extLst>
          </p:cNvPr>
          <p:cNvSpPr txBox="1"/>
          <p:nvPr/>
        </p:nvSpPr>
        <p:spPr>
          <a:xfrm>
            <a:off x="10058400" y="0"/>
            <a:ext cx="2133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AY:2025-26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85E23-1895-CFAA-F9C6-4816E091CC39}"/>
              </a:ext>
            </a:extLst>
          </p:cNvPr>
          <p:cNvSpPr txBox="1"/>
          <p:nvPr/>
        </p:nvSpPr>
        <p:spPr>
          <a:xfrm>
            <a:off x="259079" y="5678263"/>
            <a:ext cx="1167383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0" i="0" u="none" strike="noStrike" baseline="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DEPARTMENT OF ROBOTICS &amp; AUTOMATION</a:t>
            </a:r>
            <a:r>
              <a:rPr lang="en-IN" sz="3200" dirty="0">
                <a:solidFill>
                  <a:schemeClr val="tx2">
                    <a:lumMod val="75000"/>
                    <a:lumOff val="25000"/>
                  </a:schemeClr>
                </a:solidFill>
                <a:latin typeface="+mj-lt"/>
              </a:rPr>
              <a:t> </a:t>
            </a:r>
          </a:p>
          <a:p>
            <a:pPr algn="ctr"/>
            <a:r>
              <a:rPr lang="en-IN" sz="3600" dirty="0">
                <a:solidFill>
                  <a:srgbClr val="C00000"/>
                </a:solidFill>
                <a:latin typeface="+mj-lt"/>
              </a:rPr>
              <a:t>JSS ACADEMY OF TECHNICAL EDUCATION</a:t>
            </a:r>
          </a:p>
        </p:txBody>
      </p:sp>
      <p:pic>
        <p:nvPicPr>
          <p:cNvPr id="6" name="Picture 5" descr="A logo with a person sitting on the ground&#10;&#10;AI-generated content may be incorrect.">
            <a:extLst>
              <a:ext uri="{FF2B5EF4-FFF2-40B4-BE49-F238E27FC236}">
                <a16:creationId xmlns:a16="http://schemas.microsoft.com/office/drawing/2014/main" id="{29813437-3393-9026-243A-D936FFB66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6729" y="4576170"/>
            <a:ext cx="1018542" cy="100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741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44E01B-352A-D0C5-66BA-55F939457A69}"/>
              </a:ext>
            </a:extLst>
          </p:cNvPr>
          <p:cNvSpPr txBox="1"/>
          <p:nvPr/>
        </p:nvSpPr>
        <p:spPr>
          <a:xfrm>
            <a:off x="320040" y="1114513"/>
            <a:ext cx="11551920" cy="4933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/>
              <a:t>The course will enable the students to: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develop</a:t>
            </a:r>
            <a:r>
              <a:rPr lang="en-US" sz="2000" dirty="0"/>
              <a:t> a comprehensive understanding of the core principles of micro and nano robotics.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introduce</a:t>
            </a:r>
            <a:r>
              <a:rPr lang="en-US" sz="2000" dirty="0"/>
              <a:t> the key fabrication methods, control mechanisms, and the primary application domains of micro and nano robots.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examine</a:t>
            </a:r>
            <a:r>
              <a:rPr lang="en-US" sz="2000" dirty="0"/>
              <a:t> the unique challenges of scaling, material selection, and sensing technologies at micro and nano scales.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To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investigate</a:t>
            </a:r>
            <a:r>
              <a:rPr lang="en-US" sz="2000" dirty="0"/>
              <a:t> real-world applications of micro and nano robotics in fields such as healthcare, manufacturing, and environmental monitoring.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86E7A-406A-8F45-4F93-7585DA54B924}"/>
              </a:ext>
            </a:extLst>
          </p:cNvPr>
          <p:cNvSpPr txBox="1"/>
          <p:nvPr/>
        </p:nvSpPr>
        <p:spPr>
          <a:xfrm>
            <a:off x="4523740" y="107314"/>
            <a:ext cx="3144520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COURSE OBJECTIVES</a:t>
            </a:r>
          </a:p>
        </p:txBody>
      </p:sp>
    </p:spTree>
    <p:extLst>
      <p:ext uri="{BB962C8B-B14F-4D97-AF65-F5344CB8AC3E}">
        <p14:creationId xmlns:p14="http://schemas.microsoft.com/office/powerpoint/2010/main" val="309489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D07685-AB21-F3DA-CCF7-BAE0A3E27D58}"/>
              </a:ext>
            </a:extLst>
          </p:cNvPr>
          <p:cNvSpPr txBox="1"/>
          <p:nvPr/>
        </p:nvSpPr>
        <p:spPr>
          <a:xfrm>
            <a:off x="330200" y="1048157"/>
            <a:ext cx="11338560" cy="2471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Introduction to Micro and Nano Robotics: </a:t>
            </a:r>
            <a:r>
              <a:rPr lang="en-US" sz="2000" dirty="0"/>
              <a:t>Overview of robotics at micro and Nano scales, Scaling laws and challenges (e.g., surface forces, adhesion). 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Historical development </a:t>
            </a:r>
            <a:r>
              <a:rPr lang="en-US" sz="2000" dirty="0"/>
              <a:t>and milestones. Fundamental principles of micro and Nano robotics. </a:t>
            </a:r>
          </a:p>
          <a:p>
            <a:pPr algn="just">
              <a:lnSpc>
                <a:spcPct val="200000"/>
              </a:lnSpc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Applications</a:t>
            </a:r>
            <a:r>
              <a:rPr lang="en-US" sz="2000" dirty="0"/>
              <a:t> in medicine, manufacturing, and space exploration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77BD88-28FC-345F-3F1C-73C08FD11E48}"/>
              </a:ext>
            </a:extLst>
          </p:cNvPr>
          <p:cNvSpPr txBox="1"/>
          <p:nvPr/>
        </p:nvSpPr>
        <p:spPr>
          <a:xfrm>
            <a:off x="5167630" y="135760"/>
            <a:ext cx="1663700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MODULE 1</a:t>
            </a:r>
          </a:p>
        </p:txBody>
      </p:sp>
    </p:spTree>
    <p:extLst>
      <p:ext uri="{BB962C8B-B14F-4D97-AF65-F5344CB8AC3E}">
        <p14:creationId xmlns:p14="http://schemas.microsoft.com/office/powerpoint/2010/main" val="143490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811300-0897-1A6D-CF12-090ABFDF5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1" y="0"/>
            <a:ext cx="11827955" cy="63768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EA3A002-01D1-3454-6EE2-F35662F3D3EA}"/>
              </a:ext>
            </a:extLst>
          </p:cNvPr>
          <p:cNvSpPr txBox="1"/>
          <p:nvPr/>
        </p:nvSpPr>
        <p:spPr>
          <a:xfrm>
            <a:off x="2404106" y="6478508"/>
            <a:ext cx="752602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NANOROBOTICS – A MULTIDISCIPLINARY FIELD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CB11E0-EE0E-9193-0D08-4DB51854515A}"/>
              </a:ext>
            </a:extLst>
          </p:cNvPr>
          <p:cNvSpPr txBox="1"/>
          <p:nvPr/>
        </p:nvSpPr>
        <p:spPr>
          <a:xfrm>
            <a:off x="646423" y="1567934"/>
            <a:ext cx="218821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How do we design and simulate the robot?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A0BA57-D408-3269-00DC-AC5F5CD16FA7}"/>
              </a:ext>
            </a:extLst>
          </p:cNvPr>
          <p:cNvSpPr txBox="1"/>
          <p:nvPr/>
        </p:nvSpPr>
        <p:spPr>
          <a:xfrm>
            <a:off x="3810000" y="0"/>
            <a:ext cx="13817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How does nature work?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E980F1-6029-D854-9D68-B90ECEB3C455}"/>
              </a:ext>
            </a:extLst>
          </p:cNvPr>
          <p:cNvSpPr txBox="1"/>
          <p:nvPr/>
        </p:nvSpPr>
        <p:spPr>
          <a:xfrm>
            <a:off x="10031737" y="1567934"/>
            <a:ext cx="1513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How do we build and test it?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A2449A-E90D-483C-98E8-2C7FD3198351}"/>
              </a:ext>
            </a:extLst>
          </p:cNvPr>
          <p:cNvSpPr txBox="1"/>
          <p:nvPr/>
        </p:nvSpPr>
        <p:spPr>
          <a:xfrm>
            <a:off x="9168129" y="4768334"/>
            <a:ext cx="1524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What system will the robot work with?</a:t>
            </a:r>
          </a:p>
        </p:txBody>
      </p:sp>
    </p:spTree>
    <p:extLst>
      <p:ext uri="{BB962C8B-B14F-4D97-AF65-F5344CB8AC3E}">
        <p14:creationId xmlns:p14="http://schemas.microsoft.com/office/powerpoint/2010/main" val="3680797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C64192A2-48EC-0B61-BC3C-DCD824E57C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2920" y="0"/>
            <a:ext cx="7626159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30A7A3-F2C3-BD10-64ED-7C8147C165DA}"/>
              </a:ext>
            </a:extLst>
          </p:cNvPr>
          <p:cNvSpPr txBox="1"/>
          <p:nvPr/>
        </p:nvSpPr>
        <p:spPr>
          <a:xfrm>
            <a:off x="236220" y="523408"/>
            <a:ext cx="332568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Avoid obstacles.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Choose the shortest or safest route.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Reach a target accurately.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C78889-AF73-92C8-3BB5-08C6A651C530}"/>
              </a:ext>
            </a:extLst>
          </p:cNvPr>
          <p:cNvSpPr txBox="1"/>
          <p:nvPr/>
        </p:nvSpPr>
        <p:spPr>
          <a:xfrm>
            <a:off x="8299001" y="492631"/>
            <a:ext cx="39742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Tests many robot shapes quickly.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Finds the best design.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Reduces the time needed for development.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CF5EFA-7DBA-CCF5-D55E-0E831E1FB90C}"/>
              </a:ext>
            </a:extLst>
          </p:cNvPr>
          <p:cNvSpPr txBox="1"/>
          <p:nvPr/>
        </p:nvSpPr>
        <p:spPr>
          <a:xfrm>
            <a:off x="945707" y="3385919"/>
            <a:ext cx="15392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Position</a:t>
            </a:r>
          </a:p>
          <a:p>
            <a:r>
              <a:rPr lang="en-US" sz="1600" dirty="0">
                <a:solidFill>
                  <a:srgbClr val="FF0000"/>
                </a:solidFill>
              </a:rPr>
              <a:t>Orientation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55EFC6-7D02-2248-F7B6-2331DC4AD326}"/>
              </a:ext>
            </a:extLst>
          </p:cNvPr>
          <p:cNvSpPr txBox="1"/>
          <p:nvPr/>
        </p:nvSpPr>
        <p:spPr>
          <a:xfrm>
            <a:off x="236220" y="5503595"/>
            <a:ext cx="32341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Plan routes.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Avoid obstacles.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Coordinate many robots (swarms).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219C94-944A-8FFA-5868-B05FF9F5D45E}"/>
              </a:ext>
            </a:extLst>
          </p:cNvPr>
          <p:cNvSpPr txBox="1"/>
          <p:nvPr/>
        </p:nvSpPr>
        <p:spPr>
          <a:xfrm>
            <a:off x="8721650" y="5503595"/>
            <a:ext cx="315491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Move  in viscous fluids like blood.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Adapt to sticky surfaces.</a:t>
            </a:r>
          </a:p>
          <a:p>
            <a:r>
              <a:rPr lang="en-US" sz="1600" dirty="0">
                <a:solidFill>
                  <a:srgbClr val="FF0000"/>
                </a:solidFill>
              </a:rPr>
              <a:t>Learn better movement patterns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F56BE9-D302-DB51-0D52-C16A96E9FD4B}"/>
              </a:ext>
            </a:extLst>
          </p:cNvPr>
          <p:cNvSpPr txBox="1"/>
          <p:nvPr/>
        </p:nvSpPr>
        <p:spPr>
          <a:xfrm>
            <a:off x="8786924" y="1907441"/>
            <a:ext cx="340507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Model motors or control systems.</a:t>
            </a:r>
          </a:p>
          <a:p>
            <a:r>
              <a:rPr lang="en-US" sz="1600" dirty="0">
                <a:solidFill>
                  <a:srgbClr val="FF0000"/>
                </a:solidFill>
              </a:rPr>
              <a:t> Improve movement efficiency. </a:t>
            </a:r>
          </a:p>
          <a:p>
            <a:r>
              <a:rPr lang="en-US" sz="1600" dirty="0">
                <a:solidFill>
                  <a:srgbClr val="FF0000"/>
                </a:solidFill>
              </a:rPr>
              <a:t>Respond to changing conditions.</a:t>
            </a:r>
          </a:p>
        </p:txBody>
      </p:sp>
    </p:spTree>
    <p:extLst>
      <p:ext uri="{BB962C8B-B14F-4D97-AF65-F5344CB8AC3E}">
        <p14:creationId xmlns:p14="http://schemas.microsoft.com/office/powerpoint/2010/main" val="4032718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72D974A-12B0-EBD9-0595-9FD66B7F8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044" y="1717040"/>
            <a:ext cx="5553956" cy="332771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63EA7F-6836-2E3A-F67C-E8AACB59A0F9}"/>
              </a:ext>
            </a:extLst>
          </p:cNvPr>
          <p:cNvSpPr txBox="1"/>
          <p:nvPr/>
        </p:nvSpPr>
        <p:spPr>
          <a:xfrm>
            <a:off x="4859655" y="135760"/>
            <a:ext cx="2472690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B3ACE9-5E08-9BAD-2054-8A1B8BEFA217}"/>
              </a:ext>
            </a:extLst>
          </p:cNvPr>
          <p:cNvSpPr txBox="1"/>
          <p:nvPr/>
        </p:nvSpPr>
        <p:spPr>
          <a:xfrm>
            <a:off x="386080" y="243482"/>
            <a:ext cx="42468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Micro and Nano Robotics: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E4F73F-3556-8D17-DFFD-CA677377ECB7}"/>
              </a:ext>
            </a:extLst>
          </p:cNvPr>
          <p:cNvSpPr txBox="1"/>
          <p:nvPr/>
        </p:nvSpPr>
        <p:spPr>
          <a:xfrm>
            <a:off x="89206" y="1427400"/>
            <a:ext cx="6946265" cy="500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Micro-robots: </a:t>
            </a:r>
            <a:r>
              <a:rPr lang="en-US" dirty="0"/>
              <a:t>Devices typically ranging from 1 micrometer to 1 millimeter in size.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Nano-robots </a:t>
            </a:r>
            <a:r>
              <a:rPr lang="en-US" b="1" dirty="0"/>
              <a:t>(Nanobots): </a:t>
            </a:r>
            <a:r>
              <a:rPr lang="en-US" dirty="0"/>
              <a:t>Operate on the nanometer scale (1nm–1000 nm), often using components at the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atomic</a:t>
            </a:r>
            <a:r>
              <a:rPr lang="en-US" dirty="0"/>
              <a:t> or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molecular</a:t>
            </a:r>
            <a:r>
              <a:rPr lang="en-US" dirty="0"/>
              <a:t> level.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Micro- and nano-scale robotics: 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emerging area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These miniature robots have unique advantages like access to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unprecedented</a:t>
            </a:r>
            <a:r>
              <a:rPr lang="en-US" dirty="0"/>
              <a:t> and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small areas, </a:t>
            </a:r>
            <a:r>
              <a:rPr lang="en-US" dirty="0"/>
              <a:t>increased flexibility, functionality and robustness, and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low cost</a:t>
            </a:r>
            <a:r>
              <a:rPr lang="en-US" dirty="0"/>
              <a:t>,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adaptive</a:t>
            </a:r>
            <a:r>
              <a:rPr lang="en-US" dirty="0"/>
              <a:t> and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distributed </a:t>
            </a:r>
            <a:r>
              <a:rPr lang="en-US" dirty="0"/>
              <a:t>(swarms)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. 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8DD3EE-9ADD-C1CE-160F-BEF328A5A51A}"/>
              </a:ext>
            </a:extLst>
          </p:cNvPr>
          <p:cNvSpPr txBox="1"/>
          <p:nvPr/>
        </p:nvSpPr>
        <p:spPr>
          <a:xfrm>
            <a:off x="7704455" y="5044752"/>
            <a:ext cx="419290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rgbClr val="C00000"/>
                </a:solidFill>
              </a:rPr>
              <a:t>Schematic diagram of “Nanotechnology”</a:t>
            </a:r>
          </a:p>
          <a:p>
            <a:pPr algn="ctr"/>
            <a:r>
              <a:rPr lang="en-US" sz="1600" dirty="0">
                <a:solidFill>
                  <a:srgbClr val="C00000"/>
                </a:solidFill>
              </a:rPr>
              <a:t> (“Top-Down” and “Bottom-Up”)</a:t>
            </a:r>
            <a:endParaRPr lang="en-IN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86596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76354-DA0A-E6C0-D291-75035530B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3608AE-78A3-49D0-2C2A-922F564A1111}"/>
              </a:ext>
            </a:extLst>
          </p:cNvPr>
          <p:cNvSpPr txBox="1"/>
          <p:nvPr/>
        </p:nvSpPr>
        <p:spPr>
          <a:xfrm>
            <a:off x="4859655" y="135760"/>
            <a:ext cx="2472690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5713FA-B601-7590-F052-0A6F98C13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080" y="1168711"/>
            <a:ext cx="11176000" cy="48591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CF151A-5400-1735-F9A0-80E208B6A628}"/>
              </a:ext>
            </a:extLst>
          </p:cNvPr>
          <p:cNvSpPr txBox="1"/>
          <p:nvPr/>
        </p:nvSpPr>
        <p:spPr>
          <a:xfrm>
            <a:off x="2682240" y="6245186"/>
            <a:ext cx="7051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Nanorobotic manipulation system for nanodevices constructions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78F676-E99F-4FE6-B431-04E06CB29B63}"/>
              </a:ext>
            </a:extLst>
          </p:cNvPr>
          <p:cNvSpPr txBox="1"/>
          <p:nvPr/>
        </p:nvSpPr>
        <p:spPr>
          <a:xfrm>
            <a:off x="386080" y="243482"/>
            <a:ext cx="42468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Micro and Nano Robotics: Overview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63C546-D5F8-B05F-FE13-6DFA5A2F8735}"/>
              </a:ext>
            </a:extLst>
          </p:cNvPr>
          <p:cNvSpPr txBox="1"/>
          <p:nvPr/>
        </p:nvSpPr>
        <p:spPr>
          <a:xfrm>
            <a:off x="121920" y="984045"/>
            <a:ext cx="34950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(Observation &amp; Manipulation)</a:t>
            </a:r>
          </a:p>
        </p:txBody>
      </p:sp>
    </p:spTree>
    <p:extLst>
      <p:ext uri="{BB962C8B-B14F-4D97-AF65-F5344CB8AC3E}">
        <p14:creationId xmlns:p14="http://schemas.microsoft.com/office/powerpoint/2010/main" val="2524538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8364-04D2-5A7A-D6ED-BFC4E4540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C52E68-738F-EF52-3562-EF08FC1B7C03}"/>
              </a:ext>
            </a:extLst>
          </p:cNvPr>
          <p:cNvSpPr txBox="1"/>
          <p:nvPr/>
        </p:nvSpPr>
        <p:spPr>
          <a:xfrm>
            <a:off x="4859655" y="135760"/>
            <a:ext cx="2472690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52D813-01DF-A49D-34DE-D791CC8DA943}"/>
              </a:ext>
            </a:extLst>
          </p:cNvPr>
          <p:cNvSpPr txBox="1"/>
          <p:nvPr/>
        </p:nvSpPr>
        <p:spPr>
          <a:xfrm>
            <a:off x="163544" y="2075352"/>
            <a:ext cx="6736080" cy="16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locomotion </a:t>
            </a:r>
            <a:r>
              <a:rPr lang="en-US" dirty="0"/>
              <a:t>and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manipulation dynamics </a:t>
            </a:r>
            <a:r>
              <a:rPr lang="en-US" dirty="0"/>
              <a:t>of these robots are dominated by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micro/nano-scale forces </a:t>
            </a:r>
            <a:r>
              <a:rPr lang="en-US" dirty="0"/>
              <a:t>and the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scaling effects.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96C3A-6042-2D41-8EAF-F7FC6A63C6BE}"/>
              </a:ext>
            </a:extLst>
          </p:cNvPr>
          <p:cNvSpPr txBox="1"/>
          <p:nvPr/>
        </p:nvSpPr>
        <p:spPr>
          <a:xfrm>
            <a:off x="386080" y="397370"/>
            <a:ext cx="42468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Micro- and Nano-Robotics: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19F1C-DBA7-8D23-4994-ECEA11960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720" y="1591105"/>
            <a:ext cx="5161280" cy="36094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C556C6-5E43-3195-3AC5-1C503744B3F3}"/>
              </a:ext>
            </a:extLst>
          </p:cNvPr>
          <p:cNvSpPr txBox="1"/>
          <p:nvPr/>
        </p:nvSpPr>
        <p:spPr>
          <a:xfrm>
            <a:off x="7684135" y="5266895"/>
            <a:ext cx="41929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 Robotic exploration at micro- and nanometer scales</a:t>
            </a:r>
            <a:endParaRPr lang="en-IN" sz="14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9CF82-DAB5-6170-7894-1A3BA69DC998}"/>
              </a:ext>
            </a:extLst>
          </p:cNvPr>
          <p:cNvSpPr txBox="1"/>
          <p:nvPr/>
        </p:nvSpPr>
        <p:spPr>
          <a:xfrm>
            <a:off x="447368" y="3755107"/>
            <a:ext cx="5161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Locomotion Dynamics (How Tiny Robots Move)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A5EFA0-80F0-85F6-C009-A65BF6D52DAC}"/>
              </a:ext>
            </a:extLst>
          </p:cNvPr>
          <p:cNvSpPr txBox="1"/>
          <p:nvPr/>
        </p:nvSpPr>
        <p:spPr>
          <a:xfrm>
            <a:off x="314960" y="4148094"/>
            <a:ext cx="6453567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dirty="0"/>
              <a:t>At the micro- and nano-scale, movement is very different because: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Water behaves like thick honey.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Friction and viscosity are much stronger than inertia.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Gravity has very little effect. 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Therefore, robots use special methods to move.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402558-8637-2003-33B4-8085F5519893}"/>
              </a:ext>
            </a:extLst>
          </p:cNvPr>
          <p:cNvSpPr txBox="1"/>
          <p:nvPr/>
        </p:nvSpPr>
        <p:spPr>
          <a:xfrm>
            <a:off x="163544" y="1148612"/>
            <a:ext cx="11713496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Micro-robots</a:t>
            </a:r>
            <a:r>
              <a:rPr lang="en-GB" dirty="0"/>
              <a:t> (few millimetres) and </a:t>
            </a:r>
            <a:r>
              <a:rPr lang="en-GB" dirty="0">
                <a:solidFill>
                  <a:srgbClr val="FF0000"/>
                </a:solidFill>
              </a:rPr>
              <a:t>nano-robots</a:t>
            </a:r>
            <a:r>
              <a:rPr lang="en-GB" dirty="0"/>
              <a:t> (1–100 nanometres) are tiny machines designed to </a:t>
            </a:r>
            <a:r>
              <a:rPr lang="en-GB" dirty="0">
                <a:solidFill>
                  <a:srgbClr val="FF0000"/>
                </a:solidFill>
              </a:rPr>
              <a:t>perform tasks </a:t>
            </a:r>
            <a:r>
              <a:rPr lang="en-GB" dirty="0"/>
              <a:t>in places that larger robots cannot reach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887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B8364-04D2-5A7A-D6ED-BFC4E4540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C52E68-738F-EF52-3562-EF08FC1B7C03}"/>
              </a:ext>
            </a:extLst>
          </p:cNvPr>
          <p:cNvSpPr txBox="1"/>
          <p:nvPr/>
        </p:nvSpPr>
        <p:spPr>
          <a:xfrm>
            <a:off x="4859655" y="135760"/>
            <a:ext cx="2472690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996C3A-6042-2D41-8EAF-F7FC6A63C6BE}"/>
              </a:ext>
            </a:extLst>
          </p:cNvPr>
          <p:cNvSpPr txBox="1"/>
          <p:nvPr/>
        </p:nvSpPr>
        <p:spPr>
          <a:xfrm>
            <a:off x="386080" y="397370"/>
            <a:ext cx="42468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Micro- and Nano-Robotics: Overview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19F1C-DBA7-8D23-4994-ECEA11960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0720" y="1591105"/>
            <a:ext cx="5161280" cy="36094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6C556C6-5E43-3195-3AC5-1C503744B3F3}"/>
              </a:ext>
            </a:extLst>
          </p:cNvPr>
          <p:cNvSpPr txBox="1"/>
          <p:nvPr/>
        </p:nvSpPr>
        <p:spPr>
          <a:xfrm>
            <a:off x="7684135" y="5266895"/>
            <a:ext cx="41929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rgbClr val="C00000"/>
                </a:solidFill>
              </a:rPr>
              <a:t> Robotic exploration at micro- and nanometer scales</a:t>
            </a:r>
            <a:endParaRPr lang="en-IN" sz="140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6EAB24-4CA7-6D43-373A-E3CF61D4F212}"/>
              </a:ext>
            </a:extLst>
          </p:cNvPr>
          <p:cNvSpPr txBox="1"/>
          <p:nvPr/>
        </p:nvSpPr>
        <p:spPr>
          <a:xfrm>
            <a:off x="206477" y="1271360"/>
            <a:ext cx="6469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Manipulation Dynamics (How Tiny Robots Handle Objects)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EE732C-295A-DF6C-1C8F-4BE857D66C30}"/>
              </a:ext>
            </a:extLst>
          </p:cNvPr>
          <p:cNvSpPr txBox="1"/>
          <p:nvPr/>
        </p:nvSpPr>
        <p:spPr>
          <a:xfrm>
            <a:off x="386080" y="1806796"/>
            <a:ext cx="6096000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Manipulation refers to: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grabbing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pushing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carrying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rotating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assembling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or releasing tiny objects.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5DBCAB-25F0-1A86-447C-1E3245E6D9E1}"/>
              </a:ext>
            </a:extLst>
          </p:cNvPr>
          <p:cNvSpPr txBox="1"/>
          <p:nvPr/>
        </p:nvSpPr>
        <p:spPr>
          <a:xfrm>
            <a:off x="3443256" y="2222294"/>
            <a:ext cx="2900516" cy="212987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Micro-Gripping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Drug Deliver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Cell Manipulation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Particle Assembly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Surgical Manipulation</a:t>
            </a:r>
          </a:p>
        </p:txBody>
      </p:sp>
    </p:spTree>
    <p:extLst>
      <p:ext uri="{BB962C8B-B14F-4D97-AF65-F5344CB8AC3E}">
        <p14:creationId xmlns:p14="http://schemas.microsoft.com/office/powerpoint/2010/main" val="2168247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AF44D-E62B-37B3-5EE6-9C253A4D5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E52163-8A56-9B04-EA00-548713DBB3F0}"/>
              </a:ext>
            </a:extLst>
          </p:cNvPr>
          <p:cNvSpPr txBox="1"/>
          <p:nvPr/>
        </p:nvSpPr>
        <p:spPr>
          <a:xfrm>
            <a:off x="4859655" y="135760"/>
            <a:ext cx="2472690" cy="461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815165-693C-6333-84CC-37753AB15880}"/>
              </a:ext>
            </a:extLst>
          </p:cNvPr>
          <p:cNvSpPr txBox="1"/>
          <p:nvPr/>
        </p:nvSpPr>
        <p:spPr>
          <a:xfrm>
            <a:off x="337820" y="937515"/>
            <a:ext cx="11516360" cy="5523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Nanorobotics:</a:t>
            </a:r>
            <a:r>
              <a:rPr lang="en-IN" b="1" dirty="0"/>
              <a:t> </a:t>
            </a:r>
            <a:r>
              <a:rPr lang="en-IN" dirty="0"/>
              <a:t>study of robotics at the 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nanometer scale</a:t>
            </a:r>
            <a:r>
              <a:rPr lang="en-IN" dirty="0"/>
              <a:t>, and includes 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robots that are nanoscale </a:t>
            </a:r>
            <a:r>
              <a:rPr lang="en-IN" dirty="0"/>
              <a:t>in size, i.e., 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nanorobots</a:t>
            </a:r>
            <a:r>
              <a:rPr lang="en-IN" dirty="0"/>
              <a:t>, capable of 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manipulating objects </a:t>
            </a:r>
            <a:r>
              <a:rPr lang="en-IN" dirty="0"/>
              <a:t>that have 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nanometer dimensions </a:t>
            </a:r>
            <a:r>
              <a:rPr lang="en-IN" dirty="0"/>
              <a:t>with 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nanometer resolution</a:t>
            </a:r>
            <a:r>
              <a:rPr lang="en-IN" dirty="0"/>
              <a:t>, i.e., 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nanorobotic manipulators.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The field of nanorobotics</a:t>
            </a:r>
            <a:r>
              <a:rPr lang="en-IN" dirty="0"/>
              <a:t>: several disciplines,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nanofabrication</a:t>
            </a:r>
            <a:r>
              <a:rPr lang="en-IN" dirty="0"/>
              <a:t> processes used for producing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nanoscale robots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, nanoactuators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, nanosensors</a:t>
            </a:r>
            <a:r>
              <a:rPr lang="en-IN" dirty="0"/>
              <a:t>, and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physical modelling </a:t>
            </a:r>
            <a:r>
              <a:rPr lang="en-IN" dirty="0"/>
              <a:t>at nanoscales. 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Nanorobotic manipulation technologies: </a:t>
            </a:r>
            <a:r>
              <a:rPr lang="en-IN" dirty="0"/>
              <a:t>Assembly of 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nanometer-sized parts, </a:t>
            </a:r>
            <a:r>
              <a:rPr lang="en-IN" dirty="0"/>
              <a:t>the manipulation of 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biological cells </a:t>
            </a:r>
            <a:r>
              <a:rPr lang="en-IN" dirty="0"/>
              <a:t>or </a:t>
            </a:r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molecules</a:t>
            </a:r>
            <a:r>
              <a:rPr lang="en-IN" dirty="0"/>
              <a:t>, and 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Types of robots used to perform manipulation task at nano scale, also form a </a:t>
            </a:r>
            <a:r>
              <a:rPr lang="en-IN" b="1" dirty="0"/>
              <a:t>component of nanorobotics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59D39-127E-D9A2-C8E2-52E7788E4344}"/>
              </a:ext>
            </a:extLst>
          </p:cNvPr>
          <p:cNvSpPr txBox="1"/>
          <p:nvPr/>
        </p:nvSpPr>
        <p:spPr>
          <a:xfrm>
            <a:off x="386080" y="243482"/>
            <a:ext cx="42468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Micro and Nano Robotics: Overview</a:t>
            </a:r>
          </a:p>
        </p:txBody>
      </p:sp>
    </p:spTree>
    <p:extLst>
      <p:ext uri="{BB962C8B-B14F-4D97-AF65-F5344CB8AC3E}">
        <p14:creationId xmlns:p14="http://schemas.microsoft.com/office/powerpoint/2010/main" val="21877779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16895C-AD4E-7C35-1F25-9CAE486B4B89}"/>
              </a:ext>
            </a:extLst>
          </p:cNvPr>
          <p:cNvSpPr txBox="1"/>
          <p:nvPr/>
        </p:nvSpPr>
        <p:spPr>
          <a:xfrm>
            <a:off x="4211320" y="145534"/>
            <a:ext cx="376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Principles &amp;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FD9CE-A094-174A-125B-C9838FB0CBED}"/>
              </a:ext>
            </a:extLst>
          </p:cNvPr>
          <p:cNvSpPr txBox="1"/>
          <p:nvPr/>
        </p:nvSpPr>
        <p:spPr>
          <a:xfrm>
            <a:off x="447040" y="458488"/>
            <a:ext cx="11074400" cy="5680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  <a:buNone/>
            </a:pP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</a:rPr>
              <a:t>1.  Fabrication Techniques</a:t>
            </a:r>
          </a:p>
          <a:p>
            <a:pPr marL="447675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Top-down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IN" dirty="0"/>
              <a:t>Photolithography, Electron beam lithography, Laser machining, Etching, Micro-machining</a:t>
            </a:r>
          </a:p>
          <a:p>
            <a:pPr marL="447675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Bottom-up</a:t>
            </a:r>
            <a:r>
              <a:rPr lang="en-IN" dirty="0"/>
              <a:t>: Chemical synthesis, DNA origami, and molecular assembly, Nano particle assembly</a:t>
            </a:r>
          </a:p>
          <a:p>
            <a:pPr algn="just">
              <a:lnSpc>
                <a:spcPct val="200000"/>
              </a:lnSpc>
              <a:buNone/>
            </a:pPr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  Actuation Mechanisms</a:t>
            </a:r>
          </a:p>
          <a:p>
            <a:pPr algn="just">
              <a:lnSpc>
                <a:spcPct val="200000"/>
              </a:lnSpc>
              <a:buNone/>
            </a:pPr>
            <a:r>
              <a:rPr lang="en-IN" dirty="0"/>
              <a:t>Micro/nano robots can't use conventional motors; instead, they rely on: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Magnetic fields</a:t>
            </a:r>
            <a:r>
              <a:rPr lang="en-IN" dirty="0"/>
              <a:t> (e.g., rotating or gradient magnetic fields)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Acoustic waves</a:t>
            </a:r>
            <a:r>
              <a:rPr lang="en-IN" dirty="0"/>
              <a:t> (ultrasound-induced propulsion)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Chemical reactions</a:t>
            </a:r>
            <a:r>
              <a:rPr lang="en-IN" dirty="0"/>
              <a:t> (e.g., catalytic propulsion)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Light (optical tweezers)</a:t>
            </a:r>
            <a:r>
              <a:rPr lang="en-IN" dirty="0"/>
              <a:t> for precise manipulation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Electric fields</a:t>
            </a:r>
            <a:r>
              <a:rPr lang="en-IN" dirty="0"/>
              <a:t> (dielectrophoresis or electroosmotic flow)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007D89-8130-D362-4229-72A90EFB3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252335" y="3088609"/>
            <a:ext cx="3269105" cy="11502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4E434B-7F00-7AA0-B759-F65512A449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545315"/>
            <a:ext cx="5653547" cy="698717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Top-Down = Start with a big material and cut it into smaller parts.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Bottom-Up = Start with atoms or molecules and build upward. </a:t>
            </a:r>
          </a:p>
        </p:txBody>
      </p:sp>
    </p:spTree>
    <p:extLst>
      <p:ext uri="{BB962C8B-B14F-4D97-AF65-F5344CB8AC3E}">
        <p14:creationId xmlns:p14="http://schemas.microsoft.com/office/powerpoint/2010/main" val="21935237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D32FC-695C-7492-47F8-DD3247924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65671B-4D5D-D276-8FE2-30A2E765E2BF}"/>
              </a:ext>
            </a:extLst>
          </p:cNvPr>
          <p:cNvSpPr txBox="1"/>
          <p:nvPr/>
        </p:nvSpPr>
        <p:spPr>
          <a:xfrm>
            <a:off x="4211320" y="145534"/>
            <a:ext cx="376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Principles &amp;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990B0F-793B-9D7F-7D99-13CC0E053F2D}"/>
              </a:ext>
            </a:extLst>
          </p:cNvPr>
          <p:cNvSpPr txBox="1"/>
          <p:nvPr/>
        </p:nvSpPr>
        <p:spPr>
          <a:xfrm>
            <a:off x="447040" y="458488"/>
            <a:ext cx="284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 Actuation Mechanisms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5FD67B0-D7B5-C290-C4E2-89A946D726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6162778"/>
              </p:ext>
            </p:extLst>
          </p:nvPr>
        </p:nvGraphicFramePr>
        <p:xfrm>
          <a:off x="141747" y="1256427"/>
          <a:ext cx="11908505" cy="434514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28321">
                  <a:extLst>
                    <a:ext uri="{9D8B030D-6E8A-4147-A177-3AD203B41FA5}">
                      <a16:colId xmlns:a16="http://schemas.microsoft.com/office/drawing/2014/main" val="1819348348"/>
                    </a:ext>
                  </a:extLst>
                </a:gridCol>
                <a:gridCol w="5010682">
                  <a:extLst>
                    <a:ext uri="{9D8B030D-6E8A-4147-A177-3AD203B41FA5}">
                      <a16:colId xmlns:a16="http://schemas.microsoft.com/office/drawing/2014/main" val="717539848"/>
                    </a:ext>
                  </a:extLst>
                </a:gridCol>
                <a:gridCol w="3969502">
                  <a:extLst>
                    <a:ext uri="{9D8B030D-6E8A-4147-A177-3AD203B41FA5}">
                      <a16:colId xmlns:a16="http://schemas.microsoft.com/office/drawing/2014/main" val="3606127286"/>
                    </a:ext>
                  </a:extLst>
                </a:gridCol>
              </a:tblGrid>
              <a:tr h="4456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Propulsion 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How the Robot Moves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Example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798350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Magnetic fields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External magnets pull or rotate the robot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Drug delivery, targeted therapy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1063461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Ultrasound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Sound waves push the robot through fluids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Navigation in blood vessels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703217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Chemical propulsion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Chemical reactions generate thrust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Self-propelled microrobots in research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5576533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Light (Optical tweezers)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Laser beam traps and positions the robot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Precise laboratory manipulation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0244152"/>
                  </a:ext>
                </a:extLst>
              </a:tr>
              <a:tr h="7798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Electric fields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Electric forces move the robot or surrounding fluid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Cell sorting, microfluidic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630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438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BED4E-C101-B31F-FE99-90FA883A8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704C56-5A68-4D84-2AF1-79DC8312B551}"/>
              </a:ext>
            </a:extLst>
          </p:cNvPr>
          <p:cNvSpPr txBox="1"/>
          <p:nvPr/>
        </p:nvSpPr>
        <p:spPr>
          <a:xfrm>
            <a:off x="4211320" y="145534"/>
            <a:ext cx="3769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Principles &amp; Technologies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BAF5AD-3B54-FC5D-9351-82E55DF85053}"/>
              </a:ext>
            </a:extLst>
          </p:cNvPr>
          <p:cNvSpPr txBox="1"/>
          <p:nvPr/>
        </p:nvSpPr>
        <p:spPr>
          <a:xfrm>
            <a:off x="447040" y="458488"/>
            <a:ext cx="3251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 Actuation Mechanisms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0A157-1FAB-3D87-EA3E-C286096286C8}"/>
              </a:ext>
            </a:extLst>
          </p:cNvPr>
          <p:cNvSpPr txBox="1"/>
          <p:nvPr/>
        </p:nvSpPr>
        <p:spPr>
          <a:xfrm>
            <a:off x="3566160" y="85278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</a:rPr>
              <a:t>Real-world example: Drug delivery to a tumor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47DD4-B01B-5416-6F44-E3D88EFF7248}"/>
              </a:ext>
            </a:extLst>
          </p:cNvPr>
          <p:cNvSpPr txBox="1"/>
          <p:nvPr/>
        </p:nvSpPr>
        <p:spPr>
          <a:xfrm>
            <a:off x="162560" y="1654540"/>
            <a:ext cx="12313920" cy="354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dirty="0"/>
              <a:t>A nanorobot carrying an anti-cancer drug: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/>
              <a:t>Magnetic fields</a:t>
            </a:r>
            <a:r>
              <a:rPr lang="en-US" sz="2000" dirty="0"/>
              <a:t> guide it through the bloodstream toward the tumor.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/>
              <a:t>Ultrasound</a:t>
            </a:r>
            <a:r>
              <a:rPr lang="en-US" sz="2000" dirty="0"/>
              <a:t> helps propel it through narrow blood vessels.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/>
              <a:t>Electric fields</a:t>
            </a:r>
            <a:r>
              <a:rPr lang="en-US" sz="2000" dirty="0"/>
              <a:t> may be used in a lab-on-a-chip device to test the robot before use.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/>
              <a:t>Optical tweezers</a:t>
            </a:r>
            <a:r>
              <a:rPr lang="en-US" sz="2000" dirty="0"/>
              <a:t> help researchers position and study the robot during development.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2000" b="1" dirty="0"/>
              <a:t>Chemical propulsion</a:t>
            </a:r>
            <a:r>
              <a:rPr lang="en-US" sz="2000" dirty="0"/>
              <a:t> can allow specially designed robots to move on their own in suitable environments.</a:t>
            </a:r>
          </a:p>
        </p:txBody>
      </p:sp>
    </p:spTree>
    <p:extLst>
      <p:ext uri="{BB962C8B-B14F-4D97-AF65-F5344CB8AC3E}">
        <p14:creationId xmlns:p14="http://schemas.microsoft.com/office/powerpoint/2010/main" val="4229077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F6519-6EC5-76F1-6596-1FE4F8275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F6E3B2-F4F3-0A96-6BC3-098D0D4B6A5F}"/>
              </a:ext>
            </a:extLst>
          </p:cNvPr>
          <p:cNvSpPr txBox="1"/>
          <p:nvPr/>
        </p:nvSpPr>
        <p:spPr>
          <a:xfrm>
            <a:off x="3797300" y="145534"/>
            <a:ext cx="4597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PRINCIPLES &amp; TECHNOLOGIES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FBFA8-0828-E07D-F89E-293545058288}"/>
              </a:ext>
            </a:extLst>
          </p:cNvPr>
          <p:cNvSpPr txBox="1"/>
          <p:nvPr/>
        </p:nvSpPr>
        <p:spPr>
          <a:xfrm>
            <a:off x="345440" y="342375"/>
            <a:ext cx="11023600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3. Control and Sensing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Remote control via external fields (magnetic, acoustic, etc.)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Embedded sensors are minimal or non-existent; feedback often comes from </a:t>
            </a:r>
            <a:r>
              <a:rPr lang="en-US" b="1" dirty="0"/>
              <a:t>real-time imaging</a:t>
            </a:r>
            <a:r>
              <a:rPr lang="en-US" dirty="0"/>
              <a:t> (e.g., fluorescence, MRI).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8C5712-CF3F-DB04-B247-DEF412F85BD6}"/>
              </a:ext>
            </a:extLst>
          </p:cNvPr>
          <p:cNvSpPr txBox="1"/>
          <p:nvPr/>
        </p:nvSpPr>
        <p:spPr>
          <a:xfrm>
            <a:off x="447040" y="1845380"/>
            <a:ext cx="10576560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/>
              <a:t>Common Imaging Techniques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/>
              <a:t>🌟 Fluorescence Imaging</a:t>
            </a:r>
          </a:p>
          <a:p>
            <a:pPr marL="26003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robot is coated with a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fluorescent material</a:t>
            </a:r>
            <a:r>
              <a:rPr lang="en-US" dirty="0"/>
              <a:t>.</a:t>
            </a:r>
          </a:p>
          <a:p>
            <a:pPr marL="26003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When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light</a:t>
            </a:r>
            <a:r>
              <a:rPr lang="en-US" dirty="0"/>
              <a:t> shines on it, the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robot glows.</a:t>
            </a:r>
          </a:p>
          <a:p>
            <a:pPr marL="26003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Scientists observe the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glowing robot </a:t>
            </a:r>
            <a:r>
              <a:rPr lang="en-US" dirty="0"/>
              <a:t>using a special microscope or camera.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rgbClr val="C00000"/>
                </a:solidFill>
              </a:rPr>
              <a:t>Example: </a:t>
            </a:r>
            <a:r>
              <a:rPr lang="en-US" dirty="0"/>
              <a:t>A glowing nanorobot is tracked as it moves toward cancer cells.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7617-6313-96C3-1453-D4E0EC892A04}"/>
              </a:ext>
            </a:extLst>
          </p:cNvPr>
          <p:cNvSpPr txBox="1"/>
          <p:nvPr/>
        </p:nvSpPr>
        <p:spPr>
          <a:xfrm>
            <a:off x="447040" y="4483834"/>
            <a:ext cx="10830560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🧲 MRI (Magnetic Resonance Imaging)</a:t>
            </a:r>
          </a:p>
          <a:p>
            <a:pPr marL="2509838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MRI creates detailed images of the inside of the body.</a:t>
            </a:r>
          </a:p>
          <a:p>
            <a:pPr marL="2509838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If the robot contains magnetic material, it appears in MRI images.</a:t>
            </a:r>
          </a:p>
          <a:p>
            <a:pPr>
              <a:lnSpc>
                <a:spcPct val="150000"/>
              </a:lnSpc>
              <a:buNone/>
            </a:pPr>
            <a:r>
              <a:rPr lang="en-US" dirty="0">
                <a:solidFill>
                  <a:srgbClr val="FF0000"/>
                </a:solidFill>
              </a:rPr>
              <a:t>Doctors can see:  </a:t>
            </a:r>
            <a:r>
              <a:rPr lang="en-US" dirty="0"/>
              <a:t>Where the robot is  &amp;  Whether it has reached the target 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rgbClr val="C00000"/>
                </a:solidFill>
              </a:rPr>
              <a:t>Example: </a:t>
            </a:r>
            <a:r>
              <a:rPr lang="en-US" dirty="0"/>
              <a:t>Doctors track a magnetic microrobot delivering medicine inside the brain.</a:t>
            </a:r>
          </a:p>
        </p:txBody>
      </p:sp>
    </p:spTree>
    <p:extLst>
      <p:ext uri="{BB962C8B-B14F-4D97-AF65-F5344CB8AC3E}">
        <p14:creationId xmlns:p14="http://schemas.microsoft.com/office/powerpoint/2010/main" val="2876347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5FAD5-E66D-0C95-E59A-B1E334004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C40F94-15E5-4BD8-440D-DE3A1120CFBA}"/>
              </a:ext>
            </a:extLst>
          </p:cNvPr>
          <p:cNvSpPr txBox="1"/>
          <p:nvPr/>
        </p:nvSpPr>
        <p:spPr>
          <a:xfrm>
            <a:off x="3797300" y="145534"/>
            <a:ext cx="4597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KEY PRINCIPLES &amp; TECHNOLOGIES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4028C-4ED6-2070-93B8-7FACD3D8EFEA}"/>
              </a:ext>
            </a:extLst>
          </p:cNvPr>
          <p:cNvSpPr txBox="1"/>
          <p:nvPr/>
        </p:nvSpPr>
        <p:spPr>
          <a:xfrm>
            <a:off x="396240" y="545644"/>
            <a:ext cx="20421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rgbClr val="C00000"/>
                </a:solidFill>
              </a:rPr>
              <a:t>Applications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E3B50A-2B60-A7CF-1B03-817B7FB0EBF2}"/>
              </a:ext>
            </a:extLst>
          </p:cNvPr>
          <p:cNvSpPr txBox="1"/>
          <p:nvPr/>
        </p:nvSpPr>
        <p:spPr>
          <a:xfrm>
            <a:off x="396240" y="1306394"/>
            <a:ext cx="8554720" cy="2356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Medical Applications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Targeted drug delivery: </a:t>
            </a:r>
            <a:r>
              <a:rPr lang="en-IN" sz="2000" dirty="0"/>
              <a:t>Directing nanobots to tumours or infection sites.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Minimally invasive surgery</a:t>
            </a:r>
            <a:r>
              <a:rPr lang="en-IN" sz="2000" dirty="0"/>
              <a:t>: Microrobots navigating inside the body.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Cell manipulation</a:t>
            </a:r>
            <a:r>
              <a:rPr lang="en-IN" sz="2000" dirty="0"/>
              <a:t>: Pushing, cutting, or fusing cells.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Bio-sensing: </a:t>
            </a:r>
            <a:r>
              <a:rPr lang="en-IN" sz="2000" dirty="0"/>
              <a:t>In situ detection of biomarkers.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E5FFD7-2A57-7047-56EA-9B69838A98FB}"/>
              </a:ext>
            </a:extLst>
          </p:cNvPr>
          <p:cNvSpPr txBox="1"/>
          <p:nvPr/>
        </p:nvSpPr>
        <p:spPr>
          <a:xfrm>
            <a:off x="4965700" y="4423430"/>
            <a:ext cx="7099300" cy="1894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chemeClr val="accent3"/>
                </a:solidFill>
              </a:rPr>
              <a:t>Environmental and Industrial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/>
                </a:solidFill>
              </a:rPr>
              <a:t>Water purification</a:t>
            </a:r>
            <a:r>
              <a:rPr lang="en-IN" sz="2000" dirty="0"/>
              <a:t>: Nanobots that neutralize pollutants.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/>
                </a:solidFill>
              </a:rPr>
              <a:t>Micro-assembly</a:t>
            </a:r>
            <a:r>
              <a:rPr lang="en-IN" sz="2000" dirty="0"/>
              <a:t>: Fabricating micro-scale components.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accent3"/>
                </a:solidFill>
              </a:rPr>
              <a:t>Material synthesis: </a:t>
            </a:r>
            <a:r>
              <a:rPr lang="en-IN" sz="2000" dirty="0"/>
              <a:t>Smart materials that respond to stimuli.</a:t>
            </a:r>
          </a:p>
        </p:txBody>
      </p:sp>
    </p:spTree>
    <p:extLst>
      <p:ext uri="{BB962C8B-B14F-4D97-AF65-F5344CB8AC3E}">
        <p14:creationId xmlns:p14="http://schemas.microsoft.com/office/powerpoint/2010/main" val="37316466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9FAEEC-5E1D-3483-6C72-2C8CEE283136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19D992-6E35-CEC7-D6D6-025F52CD64A8}"/>
              </a:ext>
            </a:extLst>
          </p:cNvPr>
          <p:cNvSpPr txBox="1"/>
          <p:nvPr/>
        </p:nvSpPr>
        <p:spPr>
          <a:xfrm>
            <a:off x="365760" y="627856"/>
            <a:ext cx="11155680" cy="27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GB" dirty="0"/>
              <a:t>Scaling laws describe how the properties or behavior of a system change when its size changes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When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designing</a:t>
            </a:r>
            <a:r>
              <a:rPr lang="en-US" dirty="0"/>
              <a:t> and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operating</a:t>
            </a:r>
            <a:r>
              <a:rPr lang="en-US" dirty="0"/>
              <a:t> micro and nano robots, these laws help us understand the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dominant forces, energy constraints</a:t>
            </a:r>
            <a:r>
              <a:rPr lang="en-US" dirty="0"/>
              <a:t>, and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motion </a:t>
            </a:r>
            <a:r>
              <a:rPr lang="en-US" dirty="0"/>
              <a:t>dynamics as robots shrink in size.</a:t>
            </a:r>
          </a:p>
          <a:p>
            <a:pPr algn="just">
              <a:lnSpc>
                <a:spcPct val="200000"/>
              </a:lnSpc>
            </a:pPr>
            <a:r>
              <a:rPr lang="en-US" dirty="0"/>
              <a:t>The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differences occur </a:t>
            </a:r>
            <a:r>
              <a:rPr lang="en-US" dirty="0"/>
              <a:t>because physical forces (gravity, surface tension, inertia, friction, etc.) do not scale the same way with size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F602C6-111F-0ECD-AE5A-E3A6BA2D1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798" y="4072137"/>
            <a:ext cx="10143603" cy="2093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58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538A4-40B9-11A1-8170-F9E9EF1AE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52E567-8525-CA30-B807-CA50CA7D40A4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E22C08-4E0E-EF96-4FEB-EE9511772C4E}"/>
              </a:ext>
            </a:extLst>
          </p:cNvPr>
          <p:cNvSpPr txBox="1"/>
          <p:nvPr/>
        </p:nvSpPr>
        <p:spPr>
          <a:xfrm>
            <a:off x="421821" y="689135"/>
            <a:ext cx="34694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Why Scaling Matters?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C6E675-4CAF-2FA8-8B8B-EE75204F115A}"/>
              </a:ext>
            </a:extLst>
          </p:cNvPr>
          <p:cNvSpPr txBox="1"/>
          <p:nvPr/>
        </p:nvSpPr>
        <p:spPr>
          <a:xfrm>
            <a:off x="421821" y="1419616"/>
            <a:ext cx="11117036" cy="3818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Traditional engineering principles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do not apply at small scales</a:t>
            </a:r>
            <a:r>
              <a:rPr lang="en-US" sz="2000" dirty="0"/>
              <a:t>: New approached are required</a:t>
            </a: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Forces behave differently </a:t>
            </a:r>
            <a:r>
              <a:rPr lang="en-US" sz="2000" dirty="0"/>
              <a:t>( e.g. surface forces dominate, gravity becomes negligible)</a:t>
            </a: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Motion </a:t>
            </a:r>
            <a:r>
              <a:rPr lang="en-US" sz="2000" dirty="0"/>
              <a:t>requires alternative strategies (e.g., helical propulsion, oscillating magnetic fields)</a:t>
            </a: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Powering microrobots </a:t>
            </a:r>
            <a:r>
              <a:rPr lang="en-US" sz="2000" dirty="0"/>
              <a:t>is challenging (requiring external energy source)</a:t>
            </a:r>
          </a:p>
          <a:p>
            <a:pPr marL="342900" indent="-34290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Manufacturing methods must be adopted to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nanoscale fabrication techniques</a:t>
            </a:r>
            <a:endParaRPr lang="en-IN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2695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F340-5A58-0635-0113-18EDC066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A5BE6F-019D-3BF0-92DC-A994DAC791EF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6988A-75DE-56F4-E2EB-2C8232E6375D}"/>
              </a:ext>
            </a:extLst>
          </p:cNvPr>
          <p:cNvSpPr txBox="1"/>
          <p:nvPr/>
        </p:nvSpPr>
        <p:spPr>
          <a:xfrm>
            <a:off x="228600" y="439754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644394-8D9E-E7DE-E961-727E9F9F1C6E}"/>
              </a:ext>
            </a:extLst>
          </p:cNvPr>
          <p:cNvSpPr txBox="1"/>
          <p:nvPr/>
        </p:nvSpPr>
        <p:spPr>
          <a:xfrm>
            <a:off x="581024" y="968657"/>
            <a:ext cx="11236779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The laws are based on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mathematical relationships </a:t>
            </a:r>
            <a:r>
              <a:rPr lang="en-US" dirty="0"/>
              <a:t>between different physical quantities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There are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two main types of scaling laws </a:t>
            </a:r>
            <a:r>
              <a:rPr lang="en-US" dirty="0"/>
              <a:t>that are applicable to the design of microsystems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421FDD-2DD6-5977-754A-3E74D71CAD86}"/>
              </a:ext>
            </a:extLst>
          </p:cNvPr>
          <p:cNvSpPr txBox="1"/>
          <p:nvPr/>
        </p:nvSpPr>
        <p:spPr>
          <a:xfrm>
            <a:off x="524192" y="2172545"/>
            <a:ext cx="11143616" cy="11257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1. Scaling Laws Based on Physical Size (Geometric Scaling)</a:t>
            </a:r>
          </a:p>
          <a:p>
            <a:pPr algn="just">
              <a:lnSpc>
                <a:spcPct val="200000"/>
              </a:lnSpc>
            </a:pPr>
            <a:r>
              <a:rPr lang="en-GB" dirty="0"/>
              <a:t>Focuses on </a:t>
            </a:r>
            <a:r>
              <a:rPr lang="en-GB" b="1" dirty="0"/>
              <a:t>how physical quantities change when the dimensions of an object are increased or decreased</a:t>
            </a:r>
            <a:r>
              <a:rPr lang="en-GB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DF4E26-2A41-1232-10EA-4025504953AA}"/>
              </a:ext>
            </a:extLst>
          </p:cNvPr>
          <p:cNvSpPr txBox="1"/>
          <p:nvPr/>
        </p:nvSpPr>
        <p:spPr>
          <a:xfrm>
            <a:off x="450848" y="3559699"/>
            <a:ext cx="11366955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solidFill>
                  <a:srgbClr val="FF0000"/>
                </a:solidFill>
              </a:rPr>
              <a:t>Examples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Rigid body dynamics: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/>
              <a:t>A larger machine has much more </a:t>
            </a:r>
            <a:r>
              <a:rPr lang="en-GB" b="1" dirty="0"/>
              <a:t>mass </a:t>
            </a:r>
            <a:r>
              <a:rPr lang="en-GB" dirty="0"/>
              <a:t>and </a:t>
            </a:r>
            <a:r>
              <a:rPr lang="en-GB" b="1" dirty="0"/>
              <a:t>inertia</a:t>
            </a:r>
            <a:r>
              <a:rPr lang="en-GB" dirty="0"/>
              <a:t> than a smaller one, so it requires more force to move.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Electrostatic forces:</a:t>
            </a:r>
            <a:r>
              <a:rPr lang="en-GB" dirty="0"/>
              <a:t> As devices become smaller, </a:t>
            </a:r>
            <a:r>
              <a:rPr lang="en-GB" b="1" dirty="0"/>
              <a:t>electrostatic attraction </a:t>
            </a:r>
            <a:r>
              <a:rPr lang="en-GB" dirty="0"/>
              <a:t>becomes relatively </a:t>
            </a:r>
            <a:r>
              <a:rPr lang="en-GB" b="1" dirty="0"/>
              <a:t>stronger</a:t>
            </a:r>
            <a:r>
              <a:rPr lang="en-GB" dirty="0"/>
              <a:t> than gravity.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Electromagnetic forces:</a:t>
            </a:r>
            <a:r>
              <a:rPr lang="en-GB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/>
              <a:t>The strength of magnetic and electric effects changes with size, influencing the </a:t>
            </a:r>
            <a:r>
              <a:rPr lang="en-GB" b="1" dirty="0"/>
              <a:t>design</a:t>
            </a:r>
            <a:r>
              <a:rPr lang="en-GB" dirty="0"/>
              <a:t> of motors, sensors, and actuators.</a:t>
            </a:r>
          </a:p>
        </p:txBody>
      </p:sp>
    </p:spTree>
    <p:extLst>
      <p:ext uri="{BB962C8B-B14F-4D97-AF65-F5344CB8AC3E}">
        <p14:creationId xmlns:p14="http://schemas.microsoft.com/office/powerpoint/2010/main" val="24973273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F340-5A58-0635-0113-18EDC066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A5BE6F-019D-3BF0-92DC-A994DAC791EF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6988A-75DE-56F4-E2EB-2C8232E6375D}"/>
              </a:ext>
            </a:extLst>
          </p:cNvPr>
          <p:cNvSpPr txBox="1"/>
          <p:nvPr/>
        </p:nvSpPr>
        <p:spPr>
          <a:xfrm>
            <a:off x="228600" y="439754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03AFA-CBE1-06E1-46AE-847A98ECA892}"/>
              </a:ext>
            </a:extLst>
          </p:cNvPr>
          <p:cNvSpPr txBox="1"/>
          <p:nvPr/>
        </p:nvSpPr>
        <p:spPr>
          <a:xfrm>
            <a:off x="238760" y="1134795"/>
            <a:ext cx="9723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2. Scaling Laws Based on Phenomenological Behavior (Behavioral Scaling)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3C674D-3AC3-A6E1-662F-9C298CDB087E}"/>
              </a:ext>
            </a:extLst>
          </p:cNvPr>
          <p:cNvSpPr txBox="1"/>
          <p:nvPr/>
        </p:nvSpPr>
        <p:spPr>
          <a:xfrm>
            <a:off x="528320" y="1666687"/>
            <a:ext cx="11328400" cy="16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Focuses on </a:t>
            </a:r>
            <a:r>
              <a:rPr lang="en-GB" b="1" dirty="0"/>
              <a:t>how the dominant physical phenomena change when objects become extremely small</a:t>
            </a:r>
            <a:r>
              <a:rPr lang="en-GB" dirty="0"/>
              <a:t>, rather than just their dimensions.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At the microscale, </a:t>
            </a:r>
            <a:r>
              <a:rPr lang="en-GB" b="1" dirty="0"/>
              <a:t>new effects become important</a:t>
            </a:r>
            <a:r>
              <a:rPr lang="en-GB" dirty="0"/>
              <a:t>, while others become almost negligible.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D4990A-3E90-3F9B-ACEA-155AE61BA755}"/>
              </a:ext>
            </a:extLst>
          </p:cNvPr>
          <p:cNvSpPr txBox="1"/>
          <p:nvPr/>
        </p:nvSpPr>
        <p:spPr>
          <a:xfrm>
            <a:off x="624840" y="3413760"/>
            <a:ext cx="10414000" cy="2787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GB" b="1" dirty="0">
                <a:solidFill>
                  <a:srgbClr val="FF0000"/>
                </a:solidFill>
              </a:rPr>
              <a:t>Examples in MEMS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Surface forces become much stronger than gravity.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Friction and adhesion increase.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Heat transfers more quickly.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GB" dirty="0"/>
              <a:t>Fluid flow behaves differently because viscosity dominates.</a:t>
            </a:r>
          </a:p>
        </p:txBody>
      </p:sp>
    </p:spTree>
    <p:extLst>
      <p:ext uri="{BB962C8B-B14F-4D97-AF65-F5344CB8AC3E}">
        <p14:creationId xmlns:p14="http://schemas.microsoft.com/office/powerpoint/2010/main" val="4262808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FF340-5A58-0635-0113-18EDC066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A5BE6F-019D-3BF0-92DC-A994DAC791EF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C6988A-75DE-56F4-E2EB-2C8232E6375D}"/>
              </a:ext>
            </a:extLst>
          </p:cNvPr>
          <p:cNvSpPr txBox="1"/>
          <p:nvPr/>
        </p:nvSpPr>
        <p:spPr>
          <a:xfrm>
            <a:off x="228600" y="439754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2EBFF48-355E-F78A-CDA2-1BB938985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341406"/>
              </p:ext>
            </p:extLst>
          </p:nvPr>
        </p:nvGraphicFramePr>
        <p:xfrm>
          <a:off x="596900" y="1461294"/>
          <a:ext cx="10998200" cy="4319746"/>
        </p:xfrm>
        <a:graphic>
          <a:graphicData uri="http://schemas.openxmlformats.org/drawingml/2006/table">
            <a:tbl>
              <a:tblPr/>
              <a:tblGrid>
                <a:gridCol w="5397500">
                  <a:extLst>
                    <a:ext uri="{9D8B030D-6E8A-4147-A177-3AD203B41FA5}">
                      <a16:colId xmlns:a16="http://schemas.microsoft.com/office/drawing/2014/main" val="3201721629"/>
                    </a:ext>
                  </a:extLst>
                </a:gridCol>
                <a:gridCol w="5600700">
                  <a:extLst>
                    <a:ext uri="{9D8B030D-6E8A-4147-A177-3AD203B41FA5}">
                      <a16:colId xmlns:a16="http://schemas.microsoft.com/office/drawing/2014/main" val="2944633400"/>
                    </a:ext>
                  </a:extLst>
                </a:gridCol>
              </a:tblGrid>
              <a:tr h="664574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First Type (Geometric Scaling)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Second Type (Behavioral Scaling)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886250"/>
                  </a:ext>
                </a:extLst>
              </a:tr>
              <a:tr h="664574">
                <a:tc>
                  <a:txBody>
                    <a:bodyPr/>
                    <a:lstStyle/>
                    <a:p>
                      <a:r>
                        <a:rPr lang="en-GB" dirty="0"/>
                        <a:t>Depends on object size and dimensions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Depends on the physical behavior at small scales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148702"/>
                  </a:ext>
                </a:extLst>
              </a:tr>
              <a:tr h="1163012">
                <a:tc>
                  <a:txBody>
                    <a:bodyPr/>
                    <a:lstStyle/>
                    <a:p>
                      <a:r>
                        <a:rPr lang="en-GB" dirty="0"/>
                        <a:t>Studies changes in length, area, volume, and mass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Studies which forces or phenomena become dominant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525050"/>
                  </a:ext>
                </a:extLst>
              </a:tr>
              <a:tr h="664574">
                <a:tc>
                  <a:txBody>
                    <a:bodyPr/>
                    <a:lstStyle/>
                    <a:p>
                      <a:r>
                        <a:rPr lang="en-GB" dirty="0"/>
                        <a:t>Used to calculate changes in geometry and forces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Used to understand microsystem 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527139"/>
                  </a:ext>
                </a:extLst>
              </a:tr>
              <a:tr h="1163012">
                <a:tc>
                  <a:txBody>
                    <a:bodyPr/>
                    <a:lstStyle/>
                    <a:p>
                      <a:r>
                        <a:rPr lang="en-GB" dirty="0"/>
                        <a:t>Examples: rigid body dynamics, electrostatic forces, electromagnetic forces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Examples: surface tension, adhesion, friction, heat transfer, fluid 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949998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2D916FD-71E9-A06F-0407-36456935DD78}"/>
              </a:ext>
            </a:extLst>
          </p:cNvPr>
          <p:cNvSpPr txBox="1"/>
          <p:nvPr/>
        </p:nvSpPr>
        <p:spPr>
          <a:xfrm>
            <a:off x="2189480" y="839864"/>
            <a:ext cx="19913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rgbClr val="C00000"/>
                </a:solidFill>
              </a:rPr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35125537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09501-777F-E9BF-372A-A16210E4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38EBDF-103A-F742-73BE-EF5D4D5D1A29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335693-F6F7-8F18-4F1C-A1E64240FC85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4D14A2-50D0-5787-666A-3BA4D530CD3F}"/>
              </a:ext>
            </a:extLst>
          </p:cNvPr>
          <p:cNvSpPr txBox="1"/>
          <p:nvPr/>
        </p:nvSpPr>
        <p:spPr>
          <a:xfrm>
            <a:off x="228600" y="836446"/>
            <a:ext cx="3276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1. Surface-to-Volume Ratio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16B5B0-34B1-3104-4B02-E0D953E94B56}"/>
              </a:ext>
            </a:extLst>
          </p:cNvPr>
          <p:cNvSpPr txBox="1"/>
          <p:nvPr/>
        </p:nvSpPr>
        <p:spPr>
          <a:xfrm>
            <a:off x="574765" y="1661096"/>
            <a:ext cx="9321075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As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size (L) decreases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surface area 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dominates (increases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) </a:t>
            </a:r>
            <a:r>
              <a:rPr lang="en-US" dirty="0"/>
              <a:t>over volume.</a:t>
            </a:r>
          </a:p>
          <a:p>
            <a:pPr>
              <a:lnSpc>
                <a:spcPct val="150000"/>
              </a:lnSpc>
            </a:pPr>
            <a:r>
              <a:rPr lang="en-US" dirty="0"/>
              <a:t>This increases the effects of surface forces (e.g., friction, adhesion, electrostatics).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Impacts: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Better Heat Transfer: </a:t>
            </a:r>
            <a:r>
              <a:rPr lang="en-GB" dirty="0"/>
              <a:t>Heat enters and leaves quickly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Faster Chemical Reactions: </a:t>
            </a:r>
            <a:r>
              <a:rPr lang="en-GB" dirty="0"/>
              <a:t>More surface is exposed.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Better Drug Delivery: </a:t>
            </a:r>
            <a:r>
              <a:rPr lang="en-GB" dirty="0"/>
              <a:t>Large surface area allows more interaction with cells.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Faster Diffusion: </a:t>
            </a:r>
            <a:r>
              <a:rPr lang="en-IN" dirty="0"/>
              <a:t>Small particles exchange gases and chemicals quickly.</a:t>
            </a:r>
            <a:endParaRPr lang="en-US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B68228-84F4-6501-2712-4DDB511EDF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78477" y="525324"/>
            <a:ext cx="1654363" cy="981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DCF256-4AC9-8ADA-9800-0059420E5C1B}"/>
              </a:ext>
            </a:extLst>
          </p:cNvPr>
          <p:cNvSpPr txBox="1"/>
          <p:nvPr/>
        </p:nvSpPr>
        <p:spPr>
          <a:xfrm>
            <a:off x="5203959" y="625019"/>
            <a:ext cx="632070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000" dirty="0"/>
              <a:t>How the </a:t>
            </a:r>
            <a:r>
              <a:rPr lang="en-GB" sz="2000" b="1" dirty="0"/>
              <a:t>surface area</a:t>
            </a:r>
            <a:r>
              <a:rPr lang="en-GB" sz="2000" dirty="0"/>
              <a:t> and </a:t>
            </a:r>
            <a:r>
              <a:rPr lang="en-GB" sz="2000" b="1" dirty="0"/>
              <a:t>volume</a:t>
            </a:r>
            <a:r>
              <a:rPr lang="en-GB" sz="2000" dirty="0"/>
              <a:t> of an </a:t>
            </a:r>
            <a:r>
              <a:rPr lang="en-GB" sz="2000" b="1" dirty="0"/>
              <a:t>object change </a:t>
            </a:r>
            <a:r>
              <a:rPr lang="en-GB" sz="2000" dirty="0"/>
              <a:t>when its </a:t>
            </a:r>
            <a:r>
              <a:rPr lang="en-GB" sz="2000" b="1" dirty="0"/>
              <a:t>size</a:t>
            </a:r>
            <a:r>
              <a:rPr lang="en-GB" sz="2000" dirty="0"/>
              <a:t> becomes smaller or larger.</a:t>
            </a:r>
            <a:endParaRPr lang="en-IN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CA4641-5536-2DA5-8803-D05E3A76AAFE}"/>
              </a:ext>
            </a:extLst>
          </p:cNvPr>
          <p:cNvSpPr txBox="1"/>
          <p:nvPr/>
        </p:nvSpPr>
        <p:spPr>
          <a:xfrm>
            <a:off x="574765" y="4602908"/>
            <a:ext cx="6705601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FF0000"/>
                </a:solidFill>
              </a:rPr>
              <a:t>Strong Surface Forces</a:t>
            </a:r>
          </a:p>
          <a:p>
            <a:pPr>
              <a:lnSpc>
                <a:spcPct val="150000"/>
              </a:lnSpc>
            </a:pPr>
            <a:r>
              <a:rPr lang="en-GB" dirty="0"/>
              <a:t>At the nano-scale:</a:t>
            </a:r>
          </a:p>
          <a:p>
            <a:pPr marL="89376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Adhesion </a:t>
            </a:r>
          </a:p>
          <a:p>
            <a:pPr marL="89376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Friction </a:t>
            </a:r>
          </a:p>
          <a:p>
            <a:pPr marL="89376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Electrostatic forces become stronger than </a:t>
            </a:r>
            <a:r>
              <a:rPr lang="en-GB" b="1" dirty="0">
                <a:solidFill>
                  <a:srgbClr val="FF0000"/>
                </a:solidFill>
              </a:rPr>
              <a:t>gravity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955791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2BAA-3E7E-426E-BB41-9F7E242F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4D8849-D909-128B-26DF-779041538E3B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68E90-8380-0657-A8D7-BFB5B33E6DC4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06AA8-8A0C-A46E-29AE-E9E763D87B73}"/>
              </a:ext>
            </a:extLst>
          </p:cNvPr>
          <p:cNvSpPr txBox="1"/>
          <p:nvPr/>
        </p:nvSpPr>
        <p:spPr>
          <a:xfrm>
            <a:off x="478971" y="1143178"/>
            <a:ext cx="5715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 Viscous vs Inertial Forces (Reynolds Number)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1F53B-F4C3-FF2D-F797-562D2DA44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61654" y="2783033"/>
            <a:ext cx="2011866" cy="11617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6C646F-9739-0DA6-E27F-D23945488061}"/>
              </a:ext>
            </a:extLst>
          </p:cNvPr>
          <p:cNvSpPr txBox="1"/>
          <p:nvPr/>
        </p:nvSpPr>
        <p:spPr>
          <a:xfrm>
            <a:off x="568960" y="1669523"/>
            <a:ext cx="10861040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The </a:t>
            </a:r>
            <a:r>
              <a:rPr lang="en-GB" b="1" dirty="0"/>
              <a:t>Reynolds number (Re)</a:t>
            </a:r>
            <a:r>
              <a:rPr lang="en-GB" dirty="0"/>
              <a:t> is a </a:t>
            </a:r>
            <a:r>
              <a:rPr lang="en-GB" b="1" dirty="0"/>
              <a:t>dimensionless number</a:t>
            </a:r>
            <a:r>
              <a:rPr lang="en-GB" dirty="0"/>
              <a:t> that tells us whether the </a:t>
            </a:r>
            <a:r>
              <a:rPr lang="en-GB" b="1" dirty="0"/>
              <a:t>motion of a fluid </a:t>
            </a:r>
            <a:r>
              <a:rPr lang="en-GB" dirty="0"/>
              <a:t>(air or liquid) is dominated by </a:t>
            </a:r>
            <a:r>
              <a:rPr lang="en-GB" b="1" dirty="0"/>
              <a:t>inertial forces</a:t>
            </a:r>
            <a:r>
              <a:rPr lang="en-GB" dirty="0"/>
              <a:t> or </a:t>
            </a:r>
            <a:r>
              <a:rPr lang="en-GB" b="1" dirty="0"/>
              <a:t>viscous forces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4CA76B65-2CAC-13A0-6726-3095F3FC3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185" y="4261710"/>
            <a:ext cx="6786880" cy="1734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ρ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 Density of the fluid (kg/m³)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Velocity of the fluid (m/s)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= Characteristic length (size of the object or channel)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μ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 Dynamic viscosity of the fluid </a:t>
            </a:r>
          </a:p>
        </p:txBody>
      </p:sp>
    </p:spTree>
    <p:extLst>
      <p:ext uri="{BB962C8B-B14F-4D97-AF65-F5344CB8AC3E}">
        <p14:creationId xmlns:p14="http://schemas.microsoft.com/office/powerpoint/2010/main" val="4273019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2BAA-3E7E-426E-BB41-9F7E242F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4D8849-D909-128B-26DF-779041538E3B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68E90-8380-0657-A8D7-BFB5B33E6DC4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06AA8-8A0C-A46E-29AE-E9E763D87B73}"/>
              </a:ext>
            </a:extLst>
          </p:cNvPr>
          <p:cNvSpPr txBox="1"/>
          <p:nvPr/>
        </p:nvSpPr>
        <p:spPr>
          <a:xfrm>
            <a:off x="519611" y="1015543"/>
            <a:ext cx="571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 Viscous vs Inertial Forces (Reynolds Number)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A0797E-A92B-4AA6-DC12-5CA8AFBD011D}"/>
              </a:ext>
            </a:extLst>
          </p:cNvPr>
          <p:cNvSpPr txBox="1"/>
          <p:nvPr/>
        </p:nvSpPr>
        <p:spPr>
          <a:xfrm>
            <a:off x="936171" y="1810959"/>
            <a:ext cx="6680386" cy="17143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C00000"/>
                </a:solidFill>
              </a:rPr>
              <a:t>Inertial Forces:</a:t>
            </a:r>
          </a:p>
          <a:p>
            <a:pPr>
              <a:lnSpc>
                <a:spcPct val="150000"/>
              </a:lnSpc>
            </a:pPr>
            <a:r>
              <a:rPr lang="en-GB" dirty="0"/>
              <a:t>Inertial forces are due to the </a:t>
            </a:r>
            <a:r>
              <a:rPr lang="en-GB" b="1" dirty="0"/>
              <a:t>motion and momentum</a:t>
            </a:r>
            <a:r>
              <a:rPr lang="en-GB" dirty="0"/>
              <a:t> of the fluid.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They tend to keep the fluid moving.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They dominate in </a:t>
            </a:r>
            <a:r>
              <a:rPr lang="en-GB" b="1" dirty="0"/>
              <a:t>large systems</a:t>
            </a:r>
            <a:r>
              <a:rPr lang="en-GB" dirty="0"/>
              <a:t> or at </a:t>
            </a:r>
            <a:r>
              <a:rPr lang="en-GB" b="1" dirty="0"/>
              <a:t>high speeds</a:t>
            </a:r>
            <a:r>
              <a:rPr lang="en-GB"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82E589-DBEE-87B3-3BBA-A0207FDAE3F6}"/>
              </a:ext>
            </a:extLst>
          </p:cNvPr>
          <p:cNvSpPr txBox="1"/>
          <p:nvPr/>
        </p:nvSpPr>
        <p:spPr>
          <a:xfrm>
            <a:off x="936171" y="4128077"/>
            <a:ext cx="7872549" cy="17143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Viscous Forces: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Viscous forces are caused by the </a:t>
            </a:r>
            <a:r>
              <a:rPr lang="en-GB" b="1" dirty="0"/>
              <a:t>internal friction</a:t>
            </a:r>
            <a:r>
              <a:rPr lang="en-GB" dirty="0"/>
              <a:t> between layers of the fluid.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They resist motion.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They dominate in </a:t>
            </a:r>
            <a:r>
              <a:rPr lang="en-GB" b="1" dirty="0"/>
              <a:t>small channels</a:t>
            </a:r>
            <a:r>
              <a:rPr lang="en-GB" dirty="0"/>
              <a:t> or at </a:t>
            </a:r>
            <a:r>
              <a:rPr lang="en-GB" b="1" dirty="0"/>
              <a:t>low speeds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304629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2BAA-3E7E-426E-BB41-9F7E242FD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4D8849-D909-128B-26DF-779041538E3B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68E90-8380-0657-A8D7-BFB5B33E6DC4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306AA8-8A0C-A46E-29AE-E9E763D87B73}"/>
              </a:ext>
            </a:extLst>
          </p:cNvPr>
          <p:cNvSpPr txBox="1"/>
          <p:nvPr/>
        </p:nvSpPr>
        <p:spPr>
          <a:xfrm>
            <a:off x="478971" y="1143178"/>
            <a:ext cx="5715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 Viscous vs Inertial Forces (Reynolds Number)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248E92-1872-D0E2-C708-303F7CD97E2D}"/>
              </a:ext>
            </a:extLst>
          </p:cNvPr>
          <p:cNvSpPr txBox="1"/>
          <p:nvPr/>
        </p:nvSpPr>
        <p:spPr>
          <a:xfrm>
            <a:off x="661126" y="1750916"/>
            <a:ext cx="10509795" cy="1575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At low Reynolds numbers (Re ≪ 1):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Viscous forces dominate </a:t>
            </a:r>
            <a:r>
              <a:rPr lang="en-US" dirty="0"/>
              <a:t>→ movement is slow and sticky (Stokes flow).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Motion is non-inertial – objects stop immediately when force is removed.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Propulsion methods </a:t>
            </a:r>
            <a:r>
              <a:rPr lang="en-US" dirty="0"/>
              <a:t>like swimming or gliding must overcome high drag.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1F53B-F4C3-FF2D-F797-562D2DA445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77893" y="810696"/>
            <a:ext cx="1628187" cy="9402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34B263-DFC7-1754-D6F5-8FA471D58C01}"/>
              </a:ext>
            </a:extLst>
          </p:cNvPr>
          <p:cNvSpPr txBox="1"/>
          <p:nvPr/>
        </p:nvSpPr>
        <p:spPr>
          <a:xfrm>
            <a:off x="2104571" y="3531204"/>
            <a:ext cx="7659189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b="1" dirty="0">
                <a:solidFill>
                  <a:srgbClr val="C00000"/>
                </a:solidFill>
              </a:rPr>
              <a:t>Effect of Scaling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Suppose a device is reduced from </a:t>
            </a:r>
            <a:r>
              <a:rPr lang="en-GB" b="1" dirty="0"/>
              <a:t>1 meter</a:t>
            </a:r>
            <a:r>
              <a:rPr lang="en-GB" dirty="0"/>
              <a:t> to </a:t>
            </a:r>
            <a:r>
              <a:rPr lang="en-GB" b="1" dirty="0"/>
              <a:t>1 micrometer (10⁻⁶ m)</a:t>
            </a:r>
            <a:r>
              <a:rPr lang="en-GB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Since </a:t>
            </a:r>
            <a:r>
              <a:rPr lang="en-IN" b="1" dirty="0">
                <a:solidFill>
                  <a:srgbClr val="C00000"/>
                </a:solidFill>
              </a:rPr>
              <a:t>Re ∝ L  </a:t>
            </a:r>
            <a:r>
              <a:rPr lang="en-GB" dirty="0"/>
              <a:t>the Reynolds number becomes </a:t>
            </a:r>
            <a:r>
              <a:rPr lang="en-GB" b="1" dirty="0"/>
              <a:t>one million times smaller</a:t>
            </a:r>
            <a:r>
              <a:rPr lang="en-GB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Means;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Inertial forces </a:t>
            </a:r>
            <a:r>
              <a:rPr lang="en-GB" dirty="0"/>
              <a:t>decrease significantly.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>
                <a:solidFill>
                  <a:srgbClr val="C00000"/>
                </a:solidFill>
              </a:rPr>
              <a:t>Viscous forces </a:t>
            </a:r>
            <a:r>
              <a:rPr lang="en-GB" dirty="0"/>
              <a:t>become much more important. </a:t>
            </a:r>
          </a:p>
          <a:p>
            <a:pPr algn="just">
              <a:lnSpc>
                <a:spcPct val="150000"/>
              </a:lnSpc>
            </a:pPr>
            <a:r>
              <a:rPr lang="en-GB" dirty="0"/>
              <a:t>Therefore, </a:t>
            </a:r>
            <a:r>
              <a:rPr lang="en-GB" b="1" dirty="0"/>
              <a:t>microsystems operate in a viscosity-dominated environment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166995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B164-9C7B-59E8-1E26-AFE73A8F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AB7656-56A2-DD0F-8FC1-9E9721903FDE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2EA02-3A99-8A78-86D1-4F165DA1ADD1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603A7-B394-1066-598B-084D9DB6B4DB}"/>
              </a:ext>
            </a:extLst>
          </p:cNvPr>
          <p:cNvSpPr txBox="1"/>
          <p:nvPr/>
        </p:nvSpPr>
        <p:spPr>
          <a:xfrm>
            <a:off x="478971" y="1143178"/>
            <a:ext cx="362494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3. Power and Energy Scaling</a:t>
            </a:r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E2489-D081-A389-DB30-2FF91E2802F4}"/>
              </a:ext>
            </a:extLst>
          </p:cNvPr>
          <p:cNvSpPr txBox="1"/>
          <p:nvPr/>
        </p:nvSpPr>
        <p:spPr>
          <a:xfrm>
            <a:off x="478971" y="1588977"/>
            <a:ext cx="10972800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 microsystems (MEMS), </a:t>
            </a:r>
            <a:r>
              <a:rPr lang="en-GB" b="1" dirty="0"/>
              <a:t>power and energy do not scale in the same way as size</a:t>
            </a:r>
            <a:r>
              <a:rPr lang="en-GB" dirty="0"/>
              <a:t>. When a device is made smaller, its </a:t>
            </a:r>
            <a:r>
              <a:rPr lang="en-GB" b="1" dirty="0"/>
              <a:t>mass, force, energy storage, and power consumption change according to scaling laws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2E1016-E4C8-F3FA-A905-BA2118986CA3}"/>
              </a:ext>
            </a:extLst>
          </p:cNvPr>
          <p:cNvSpPr txBox="1"/>
          <p:nvPr/>
        </p:nvSpPr>
        <p:spPr>
          <a:xfrm>
            <a:off x="478971" y="2740075"/>
            <a:ext cx="107986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rgbClr val="C00000"/>
                </a:solidFill>
              </a:rPr>
              <a:t>When the dimensions of a device are reduced, different physical quantities reduce at different rates.</a:t>
            </a:r>
            <a:endParaRPr lang="en-IN" i="1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F036E5-F9AD-B0E2-883B-07EA6784AEED}"/>
              </a:ext>
            </a:extLst>
          </p:cNvPr>
          <p:cNvSpPr txBox="1"/>
          <p:nvPr/>
        </p:nvSpPr>
        <p:spPr>
          <a:xfrm>
            <a:off x="478971" y="346522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Let the characteristic length of a device be </a:t>
            </a:r>
            <a:r>
              <a:rPr lang="en-GB" b="1" dirty="0"/>
              <a:t>L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8A51BA-E4DF-A528-1F03-FBE30BF9BC3C}"/>
              </a:ext>
            </a:extLst>
          </p:cNvPr>
          <p:cNvSpPr txBox="1"/>
          <p:nvPr/>
        </p:nvSpPr>
        <p:spPr>
          <a:xfrm>
            <a:off x="348340" y="3970141"/>
            <a:ext cx="7170059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Energy Scaling</a:t>
            </a:r>
          </a:p>
          <a:p>
            <a:pPr>
              <a:lnSpc>
                <a:spcPct val="150000"/>
              </a:lnSpc>
            </a:pPr>
            <a:r>
              <a:rPr lang="en-GB" dirty="0"/>
              <a:t>Energy is related to the </a:t>
            </a:r>
            <a:r>
              <a:rPr lang="en-GB" b="1" dirty="0"/>
              <a:t>size and mass of a system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r>
              <a:rPr lang="en-GB" dirty="0"/>
              <a:t>For mechanical systems: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CDF299F-BE5D-0D47-F88D-BC86F85E2F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174188" y="4821331"/>
            <a:ext cx="1174292" cy="65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5325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B164-9C7B-59E8-1E26-AFE73A8F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AB7656-56A2-DD0F-8FC1-9E9721903FDE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2EA02-3A99-8A78-86D1-4F165DA1ADD1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F036E5-F9AD-B0E2-883B-07EA6784AEED}"/>
              </a:ext>
            </a:extLst>
          </p:cNvPr>
          <p:cNvSpPr txBox="1"/>
          <p:nvPr/>
        </p:nvSpPr>
        <p:spPr>
          <a:xfrm>
            <a:off x="713334" y="101695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Let the characteristic length of a device be </a:t>
            </a:r>
            <a:r>
              <a:rPr lang="en-GB" b="1" dirty="0"/>
              <a:t>L</a:t>
            </a:r>
            <a:r>
              <a:rPr lang="en-GB" dirty="0"/>
              <a:t>.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8A51BA-E4DF-A528-1F03-FBE30BF9BC3C}"/>
              </a:ext>
            </a:extLst>
          </p:cNvPr>
          <p:cNvSpPr txBox="1"/>
          <p:nvPr/>
        </p:nvSpPr>
        <p:spPr>
          <a:xfrm>
            <a:off x="673463" y="1491101"/>
            <a:ext cx="7170059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Energy Scaling</a:t>
            </a:r>
          </a:p>
          <a:p>
            <a:pPr>
              <a:lnSpc>
                <a:spcPct val="150000"/>
              </a:lnSpc>
            </a:pPr>
            <a:r>
              <a:rPr lang="en-GB" dirty="0"/>
              <a:t>Energy is related to the </a:t>
            </a:r>
            <a:r>
              <a:rPr lang="en-GB" b="1" dirty="0"/>
              <a:t>size and mass of a system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r>
              <a:rPr lang="en-GB" dirty="0"/>
              <a:t>For mechanical systems: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CDF299F-BE5D-0D47-F88D-BC86F85E2F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71346" y="2352068"/>
            <a:ext cx="1174292" cy="6503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2B0386-CD29-4C0D-9B38-AEA75E585A8C}"/>
              </a:ext>
            </a:extLst>
          </p:cNvPr>
          <p:cNvSpPr txBox="1"/>
          <p:nvPr/>
        </p:nvSpPr>
        <p:spPr>
          <a:xfrm>
            <a:off x="749164" y="4276828"/>
            <a:ext cx="6060170" cy="467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/>
              <a:t>Mass depends on volume: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1E1FCE-5FF0-66FE-B7A3-BD6D4024F384}"/>
              </a:ext>
            </a:extLst>
          </p:cNvPr>
          <p:cNvSpPr txBox="1"/>
          <p:nvPr/>
        </p:nvSpPr>
        <p:spPr>
          <a:xfrm>
            <a:off x="3671346" y="4395833"/>
            <a:ext cx="944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m ∝ L</a:t>
            </a:r>
            <a:r>
              <a:rPr lang="en-IN" b="1" baseline="30000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9E80C4-0248-A3B9-43D1-CE96341CA818}"/>
              </a:ext>
            </a:extLst>
          </p:cNvPr>
          <p:cNvSpPr txBox="1"/>
          <p:nvPr/>
        </p:nvSpPr>
        <p:spPr>
          <a:xfrm>
            <a:off x="749164" y="4923545"/>
            <a:ext cx="1299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Therefore: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8862C08-11BB-E73B-0B5E-F530E0768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632" y="4914788"/>
            <a:ext cx="883920" cy="40729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8A165D-C6C4-F1C8-546F-7277D2D5DC0A}"/>
              </a:ext>
            </a:extLst>
          </p:cNvPr>
          <p:cNvSpPr txBox="1"/>
          <p:nvPr/>
        </p:nvSpPr>
        <p:spPr>
          <a:xfrm>
            <a:off x="386080" y="5471709"/>
            <a:ext cx="11419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If the size of a device is reduced by a factor of 10: So the stored mechanical energy becomes </a:t>
            </a:r>
            <a:r>
              <a:rPr lang="en-GB" b="1" dirty="0"/>
              <a:t>1000 times smaller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7ED2D4-6D06-4A39-18CD-B8E37AAD5B1F}"/>
              </a:ext>
            </a:extLst>
          </p:cNvPr>
          <p:cNvSpPr txBox="1"/>
          <p:nvPr/>
        </p:nvSpPr>
        <p:spPr>
          <a:xfrm>
            <a:off x="4143786" y="3174666"/>
            <a:ext cx="183750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 = mass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 = velocity </a:t>
            </a:r>
          </a:p>
        </p:txBody>
      </p:sp>
    </p:spTree>
    <p:extLst>
      <p:ext uri="{BB962C8B-B14F-4D97-AF65-F5344CB8AC3E}">
        <p14:creationId xmlns:p14="http://schemas.microsoft.com/office/powerpoint/2010/main" val="4156894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B164-9C7B-59E8-1E26-AFE73A8F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AB7656-56A2-DD0F-8FC1-9E9721903FDE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2EA02-3A99-8A78-86D1-4F165DA1ADD1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F061F-433B-0248-2E50-9E633E6D82DB}"/>
              </a:ext>
            </a:extLst>
          </p:cNvPr>
          <p:cNvSpPr txBox="1"/>
          <p:nvPr/>
        </p:nvSpPr>
        <p:spPr>
          <a:xfrm>
            <a:off x="508000" y="1033195"/>
            <a:ext cx="6096000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2. Power Scaling</a:t>
            </a:r>
          </a:p>
          <a:p>
            <a:pPr>
              <a:lnSpc>
                <a:spcPct val="150000"/>
              </a:lnSpc>
            </a:pPr>
            <a:r>
              <a:rPr lang="en-GB" dirty="0"/>
              <a:t>Power is the </a:t>
            </a:r>
            <a:r>
              <a:rPr lang="en-GB" b="1" dirty="0"/>
              <a:t>rate at which energy is used or transferred</a:t>
            </a:r>
            <a:r>
              <a:rPr lang="en-GB" dirty="0"/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44A9494-B8BE-4330-E293-2149EA02B55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4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543040" y="1252175"/>
            <a:ext cx="820447" cy="67036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9BFD65-043C-968E-1E36-435B35611E4A}"/>
              </a:ext>
            </a:extLst>
          </p:cNvPr>
          <p:cNvSpPr txBox="1"/>
          <p:nvPr/>
        </p:nvSpPr>
        <p:spPr>
          <a:xfrm>
            <a:off x="8087360" y="736222"/>
            <a:ext cx="3027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 = power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 = energy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 = time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0ACCD3-6A4B-481C-D694-49FF8FE0C5D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076867" y="2364833"/>
            <a:ext cx="958265" cy="3693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DD38BB6-F13C-ED5D-D24E-8C01A815D5DA}"/>
              </a:ext>
            </a:extLst>
          </p:cNvPr>
          <p:cNvSpPr txBox="1"/>
          <p:nvPr/>
        </p:nvSpPr>
        <p:spPr>
          <a:xfrm>
            <a:off x="579120" y="237079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Since </a:t>
            </a:r>
            <a:r>
              <a:rPr lang="en-IN" b="1" dirty="0"/>
              <a:t>energy</a:t>
            </a:r>
            <a:r>
              <a:rPr lang="en-IN" dirty="0"/>
              <a:t> scales as: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7E94B9-8F44-A43A-1138-8775B5956F9F}"/>
              </a:ext>
            </a:extLst>
          </p:cNvPr>
          <p:cNvSpPr txBox="1"/>
          <p:nvPr/>
        </p:nvSpPr>
        <p:spPr>
          <a:xfrm>
            <a:off x="447040" y="299775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and </a:t>
            </a:r>
            <a:r>
              <a:rPr lang="en-GB" b="1" dirty="0"/>
              <a:t>time </a:t>
            </a:r>
            <a:r>
              <a:rPr lang="en-GB" dirty="0"/>
              <a:t>is related to the motion scale: </a:t>
            </a:r>
            <a:r>
              <a:rPr lang="en-IN" b="1" dirty="0"/>
              <a:t>t ∝ L</a:t>
            </a:r>
            <a:r>
              <a:rPr lang="en-IN" dirty="0"/>
              <a:t>,</a:t>
            </a:r>
            <a:r>
              <a:rPr lang="en-IN" b="1" dirty="0"/>
              <a:t> </a:t>
            </a:r>
            <a:r>
              <a:rPr lang="en-IN" dirty="0"/>
              <a:t>then;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E4D80B5-F462-8524-727D-A979F864095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6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384284" y="2549498"/>
            <a:ext cx="1137957" cy="134116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D5185E2-6DAF-CFE4-70CA-1490A869D346}"/>
              </a:ext>
            </a:extLst>
          </p:cNvPr>
          <p:cNvSpPr txBox="1"/>
          <p:nvPr/>
        </p:nvSpPr>
        <p:spPr>
          <a:xfrm>
            <a:off x="767369" y="4110425"/>
            <a:ext cx="4618996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/>
              <a:t>Meaning:</a:t>
            </a:r>
          </a:p>
          <a:p>
            <a:pPr>
              <a:lnSpc>
                <a:spcPct val="150000"/>
              </a:lnSpc>
            </a:pPr>
            <a:r>
              <a:rPr lang="en-GB" dirty="0"/>
              <a:t>When the size decreases: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Energy decreases rapidly.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Power requirement also decreases.</a:t>
            </a:r>
          </a:p>
        </p:txBody>
      </p:sp>
    </p:spTree>
    <p:extLst>
      <p:ext uri="{BB962C8B-B14F-4D97-AF65-F5344CB8AC3E}">
        <p14:creationId xmlns:p14="http://schemas.microsoft.com/office/powerpoint/2010/main" val="4064500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FB164-9C7B-59E8-1E26-AFE73A8F8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0AB7656-56A2-DD0F-8FC1-9E9721903FDE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7DA02D-87C6-6346-3784-E12595F65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738388"/>
              </p:ext>
            </p:extLst>
          </p:nvPr>
        </p:nvGraphicFramePr>
        <p:xfrm>
          <a:off x="591820" y="695375"/>
          <a:ext cx="9801860" cy="3384002"/>
        </p:xfrm>
        <a:graphic>
          <a:graphicData uri="http://schemas.openxmlformats.org/drawingml/2006/table">
            <a:tbl>
              <a:tblPr/>
              <a:tblGrid>
                <a:gridCol w="2182926">
                  <a:extLst>
                    <a:ext uri="{9D8B030D-6E8A-4147-A177-3AD203B41FA5}">
                      <a16:colId xmlns:a16="http://schemas.microsoft.com/office/drawing/2014/main" val="2598477095"/>
                    </a:ext>
                  </a:extLst>
                </a:gridCol>
                <a:gridCol w="3485106">
                  <a:extLst>
                    <a:ext uri="{9D8B030D-6E8A-4147-A177-3AD203B41FA5}">
                      <a16:colId xmlns:a16="http://schemas.microsoft.com/office/drawing/2014/main" val="4273444772"/>
                    </a:ext>
                  </a:extLst>
                </a:gridCol>
                <a:gridCol w="4133828">
                  <a:extLst>
                    <a:ext uri="{9D8B030D-6E8A-4147-A177-3AD203B41FA5}">
                      <a16:colId xmlns:a16="http://schemas.microsoft.com/office/drawing/2014/main" val="704246886"/>
                    </a:ext>
                  </a:extLst>
                </a:gridCol>
              </a:tblGrid>
              <a:tr h="80003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Scaling 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IN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Effect when size decreases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284764"/>
                  </a:ext>
                </a:extLst>
              </a:tr>
              <a:tr h="516793">
                <a:tc>
                  <a:txBody>
                    <a:bodyPr/>
                    <a:lstStyle/>
                    <a:p>
                      <a:r>
                        <a:rPr lang="en-IN"/>
                        <a:t>Length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(L)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Decreases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8547254"/>
                  </a:ext>
                </a:extLst>
              </a:tr>
              <a:tr h="516793">
                <a:tc>
                  <a:txBody>
                    <a:bodyPr/>
                    <a:lstStyle/>
                    <a:p>
                      <a:r>
                        <a:rPr lang="en-IN"/>
                        <a:t>Area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(L</a:t>
                      </a:r>
                      <a:r>
                        <a:rPr lang="en-IN" baseline="30000" dirty="0"/>
                        <a:t>2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Decreases 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7583543"/>
                  </a:ext>
                </a:extLst>
              </a:tr>
              <a:tr h="516793">
                <a:tc>
                  <a:txBody>
                    <a:bodyPr/>
                    <a:lstStyle/>
                    <a:p>
                      <a:r>
                        <a:rPr lang="en-IN"/>
                        <a:t>Volume/Mass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(L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Decreases very rapidly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7665172"/>
                  </a:ext>
                </a:extLst>
              </a:tr>
              <a:tr h="516793">
                <a:tc>
                  <a:txBody>
                    <a:bodyPr/>
                    <a:lstStyle/>
                    <a:p>
                      <a:r>
                        <a:rPr lang="en-IN" dirty="0"/>
                        <a:t>Energy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(L</a:t>
                      </a:r>
                      <a:r>
                        <a:rPr lang="en-IN" baseline="30000" dirty="0"/>
                        <a:t>3</a:t>
                      </a:r>
                      <a:r>
                        <a:rPr lang="en-IN" dirty="0"/>
                        <a:t>) (mechanical)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Becomes much smaller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6955338"/>
                  </a:ext>
                </a:extLst>
              </a:tr>
              <a:tr h="516793">
                <a:tc>
                  <a:txBody>
                    <a:bodyPr/>
                    <a:lstStyle/>
                    <a:p>
                      <a:r>
                        <a:rPr lang="en-IN"/>
                        <a:t>Power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(L</a:t>
                      </a:r>
                      <a:r>
                        <a:rPr lang="en-IN" baseline="30000" dirty="0"/>
                        <a:t>2</a:t>
                      </a:r>
                      <a:r>
                        <a:rPr lang="en-IN" dirty="0"/>
                        <a:t>) (approx.)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Reduces significantly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29087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D986439-C4E5-44DE-B5DA-C9025E0F2527}"/>
              </a:ext>
            </a:extLst>
          </p:cNvPr>
          <p:cNvSpPr txBox="1"/>
          <p:nvPr/>
        </p:nvSpPr>
        <p:spPr>
          <a:xfrm>
            <a:off x="447040" y="239232"/>
            <a:ext cx="1856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Summary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D89797-74EE-09C9-2E8C-9A2B38AAB6D1}"/>
              </a:ext>
            </a:extLst>
          </p:cNvPr>
          <p:cNvSpPr txBox="1"/>
          <p:nvPr/>
        </p:nvSpPr>
        <p:spPr>
          <a:xfrm>
            <a:off x="447040" y="5319886"/>
            <a:ext cx="8859520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Implication: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As robots shrink, they </a:t>
            </a:r>
            <a:r>
              <a:rPr lang="en-US" sz="1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lose the ability to store or produce enough power internally</a:t>
            </a:r>
            <a:r>
              <a:rPr lang="en-US" sz="180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/>
              <a:t>Most nano/ micro bots use external fields </a:t>
            </a:r>
            <a:r>
              <a:rPr lang="en-US" sz="1800" dirty="0">
                <a:solidFill>
                  <a:srgbClr val="FF0000"/>
                </a:solidFill>
              </a:rPr>
              <a:t>(magnetic, acoustic, light) </a:t>
            </a:r>
            <a:r>
              <a:rPr lang="en-US" sz="1800" dirty="0"/>
              <a:t>for actuation.</a:t>
            </a:r>
            <a:endParaRPr lang="en-IN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E11D12-0C6D-F953-3AF0-A95FE13A0515}"/>
              </a:ext>
            </a:extLst>
          </p:cNvPr>
          <p:cNvSpPr txBox="1"/>
          <p:nvPr/>
        </p:nvSpPr>
        <p:spPr>
          <a:xfrm>
            <a:off x="447040" y="4355764"/>
            <a:ext cx="6897189" cy="880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Power output </a:t>
            </a:r>
            <a:r>
              <a:rPr lang="en-US" dirty="0"/>
              <a:t>(from onboard motors or actuators): </a:t>
            </a:r>
            <a:r>
              <a:rPr lang="en-US" dirty="0">
                <a:highlight>
                  <a:srgbClr val="FFFF00"/>
                </a:highlight>
              </a:rPr>
              <a:t>P ∝ L</a:t>
            </a:r>
            <a:r>
              <a:rPr lang="en-US" baseline="30000" dirty="0">
                <a:highlight>
                  <a:srgbClr val="FFFF00"/>
                </a:highlight>
              </a:rPr>
              <a:t>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Heat loss </a:t>
            </a:r>
            <a:r>
              <a:rPr lang="en-US" dirty="0"/>
              <a:t>and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friction</a:t>
            </a:r>
            <a:r>
              <a:rPr lang="en-US" dirty="0"/>
              <a:t> scale with surface area: </a:t>
            </a:r>
            <a:r>
              <a:rPr lang="en-US" dirty="0">
                <a:highlight>
                  <a:srgbClr val="FFFF00"/>
                </a:highlight>
              </a:rPr>
              <a:t>Q ∝ L</a:t>
            </a:r>
            <a:r>
              <a:rPr lang="en-US" baseline="30000" dirty="0">
                <a:highlight>
                  <a:srgbClr val="FFFF00"/>
                </a:highligh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746701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13DC0-0F1D-593D-69A6-837585469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A3366D-A820-809E-E33F-FED643039074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8FD951-917C-31D7-60CE-E2BB47DF8E86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F79B2E-8D0B-6742-C816-486AB61A323B}"/>
              </a:ext>
            </a:extLst>
          </p:cNvPr>
          <p:cNvSpPr txBox="1"/>
          <p:nvPr/>
        </p:nvSpPr>
        <p:spPr>
          <a:xfrm>
            <a:off x="457199" y="943123"/>
            <a:ext cx="34072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4. Force Scaling Summary</a:t>
            </a:r>
            <a:endParaRPr lang="en-IN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370E7D-23C2-A59E-8791-64DA2468B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667" y="1540066"/>
            <a:ext cx="10020615" cy="509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53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E6C40-FB91-62DA-40C9-1C82EF83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E66E16-8A4D-C3D1-DDA9-A4AAA372A522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7C189-DDE5-105A-293B-48E2D2DFC851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2EBF04-4353-E112-DC19-B420712D250E}"/>
              </a:ext>
            </a:extLst>
          </p:cNvPr>
          <p:cNvSpPr txBox="1"/>
          <p:nvPr/>
        </p:nvSpPr>
        <p:spPr>
          <a:xfrm>
            <a:off x="478971" y="1143178"/>
            <a:ext cx="36249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5. Diffusion Scaling</a:t>
            </a:r>
            <a:endParaRPr lang="en-IN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6A9D39-72A2-2145-1DCC-56D27F3DB2D7}"/>
              </a:ext>
            </a:extLst>
          </p:cNvPr>
          <p:cNvSpPr txBox="1"/>
          <p:nvPr/>
        </p:nvSpPr>
        <p:spPr>
          <a:xfrm>
            <a:off x="478971" y="2040792"/>
            <a:ext cx="11353800" cy="3087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/>
              <a:t> t: time,</a:t>
            </a:r>
          </a:p>
          <a:p>
            <a:pPr algn="just">
              <a:lnSpc>
                <a:spcPct val="200000"/>
              </a:lnSpc>
            </a:pPr>
            <a:r>
              <a:rPr lang="en-US" sz="2000" dirty="0"/>
              <a:t>L: distance,</a:t>
            </a:r>
          </a:p>
          <a:p>
            <a:pPr algn="just">
              <a:lnSpc>
                <a:spcPct val="200000"/>
              </a:lnSpc>
            </a:pPr>
            <a:r>
              <a:rPr lang="en-US" sz="2000" dirty="0"/>
              <a:t>D: diffusion coefficient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Diffusion dominates </a:t>
            </a:r>
            <a:r>
              <a:rPr lang="en-US" sz="2000" dirty="0"/>
              <a:t>transport at the nanoscale, but it becomes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inefficient over long distances</a:t>
            </a:r>
            <a:r>
              <a:rPr lang="en-US" sz="2000" dirty="0"/>
              <a:t>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Nanoscale robots must 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operate locally </a:t>
            </a:r>
            <a:r>
              <a:rPr lang="en-US" sz="2000" dirty="0"/>
              <a:t>or be transported by flows or fields.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93F0D7F-4CBB-492B-E999-5DD745E3F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19730" y="710386"/>
            <a:ext cx="1368368" cy="101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3668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1A9E-F25F-59D3-2CEB-A1CC45159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9DB2E9-94B3-160A-04EC-6138BEB97AF7}"/>
              </a:ext>
            </a:extLst>
          </p:cNvPr>
          <p:cNvSpPr txBox="1"/>
          <p:nvPr/>
        </p:nvSpPr>
        <p:spPr>
          <a:xfrm>
            <a:off x="5100320" y="125214"/>
            <a:ext cx="199136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SCALING LAWS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45ECB4-4220-9FCD-5C91-5490BF38930F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9F3D45-3608-17AB-C112-EF7B621D6A3B}"/>
              </a:ext>
            </a:extLst>
          </p:cNvPr>
          <p:cNvSpPr txBox="1"/>
          <p:nvPr/>
        </p:nvSpPr>
        <p:spPr>
          <a:xfrm>
            <a:off x="478971" y="1143178"/>
            <a:ext cx="4191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6. Thermal and Brownian Effects</a:t>
            </a:r>
            <a:endParaRPr lang="en-IN" sz="20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5CA669-D087-9BF6-E3FB-56FEC9090495}"/>
              </a:ext>
            </a:extLst>
          </p:cNvPr>
          <p:cNvSpPr txBox="1"/>
          <p:nvPr/>
        </p:nvSpPr>
        <p:spPr>
          <a:xfrm>
            <a:off x="696685" y="2010302"/>
            <a:ext cx="9144000" cy="1856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b="1" dirty="0"/>
              <a:t>Thermal noise</a:t>
            </a:r>
            <a:r>
              <a:rPr lang="en-IN" sz="2000" dirty="0"/>
              <a:t> and </a:t>
            </a:r>
            <a:r>
              <a:rPr lang="en-IN" sz="2000" b="1" dirty="0"/>
              <a:t>Brownian motion</a:t>
            </a:r>
            <a:r>
              <a:rPr lang="en-IN" sz="2000" dirty="0"/>
              <a:t> become significant at the nanoscale: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Nanobots randomly jitter, affecting precision.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Control systems must account for stochastic behavior.</a:t>
            </a:r>
            <a:endParaRPr lang="en-IN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950FE9-D96D-9088-36E9-8DCA10784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418243" y="2223970"/>
            <a:ext cx="2394633" cy="388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3446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6B7CD-7DBD-6C1C-F78A-4DA5BDEBA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BFC0BF-4499-BD05-33BE-3A8C33ADE738}"/>
              </a:ext>
            </a:extLst>
          </p:cNvPr>
          <p:cNvSpPr txBox="1"/>
          <p:nvPr/>
        </p:nvSpPr>
        <p:spPr>
          <a:xfrm>
            <a:off x="4511040" y="224909"/>
            <a:ext cx="292608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Engineering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A61DD5-3627-DD2B-F629-AC22914BCF37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711F8-5260-92C2-F44A-F40AD3416039}"/>
              </a:ext>
            </a:extLst>
          </p:cNvPr>
          <p:cNvSpPr txBox="1"/>
          <p:nvPr/>
        </p:nvSpPr>
        <p:spPr>
          <a:xfrm>
            <a:off x="363220" y="858808"/>
            <a:ext cx="11221720" cy="5315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Actuation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Challenge</a:t>
            </a:r>
            <a:r>
              <a:rPr lang="en-US" dirty="0"/>
              <a:t>: Conventional motors don’t scale down well.</a:t>
            </a:r>
          </a:p>
          <a:p>
            <a:pPr>
              <a:lnSpc>
                <a:spcPct val="150000"/>
              </a:lnSpc>
            </a:pPr>
            <a:r>
              <a:rPr lang="en-US" dirty="0"/>
              <a:t>    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Solutions:</a:t>
            </a:r>
          </a:p>
          <a:p>
            <a:pPr marL="16160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Electrostatic, magnetic, piezoelectric, or chemical actuation.</a:t>
            </a:r>
          </a:p>
          <a:p>
            <a:pPr marL="16160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Use of artificial muscles (e.g., dielectric elastomers).</a:t>
            </a:r>
          </a:p>
          <a:p>
            <a:pPr marL="16160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Light-driven or bio-hybrid mechanisms.</a:t>
            </a:r>
          </a:p>
          <a:p>
            <a:endParaRPr lang="en-US" dirty="0"/>
          </a:p>
          <a:p>
            <a:r>
              <a:rPr lang="en-US" b="1" dirty="0"/>
              <a:t>2.  Power Supply</a:t>
            </a:r>
          </a:p>
          <a:p>
            <a:endParaRPr lang="en-US" dirty="0"/>
          </a:p>
          <a:p>
            <a:r>
              <a:rPr lang="en-US" dirty="0"/>
              <a:t>   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Challenge: </a:t>
            </a:r>
            <a:r>
              <a:rPr lang="en-US" dirty="0"/>
              <a:t>Batteries are difficult to miniaturize; energy density becomes a constraint.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    Solutions:</a:t>
            </a:r>
          </a:p>
          <a:p>
            <a:pPr marL="16160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Wireless power (inductive or capacitive coupling).</a:t>
            </a:r>
          </a:p>
          <a:p>
            <a:pPr marL="16160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Harvesting environmental energy (light, vibrations).</a:t>
            </a:r>
          </a:p>
          <a:p>
            <a:pPr marL="161607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       Using external fields (magnetic, ultrasonic) for propulsion and control.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1326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4BF64-0DCE-8F9F-5841-3498F56A1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60143E-4D42-08D6-2847-85E7AB64EA75}"/>
              </a:ext>
            </a:extLst>
          </p:cNvPr>
          <p:cNvSpPr txBox="1"/>
          <p:nvPr/>
        </p:nvSpPr>
        <p:spPr>
          <a:xfrm>
            <a:off x="4511040" y="224909"/>
            <a:ext cx="292608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Engineering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207229-9CE2-31F3-3CFA-2339197BCA18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099669-E024-D87E-05C1-1A63F0543995}"/>
              </a:ext>
            </a:extLst>
          </p:cNvPr>
          <p:cNvSpPr txBox="1"/>
          <p:nvPr/>
        </p:nvSpPr>
        <p:spPr>
          <a:xfrm>
            <a:off x="751840" y="980936"/>
            <a:ext cx="9895840" cy="5453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/>
              <a:t>3. Fabrication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Challenge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IN" dirty="0"/>
              <a:t>Precision and repeatability at small scales.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Solutions</a:t>
            </a:r>
            <a:r>
              <a:rPr lang="en-IN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MEMS/NEMS (Micro/Nano-Electromechanical Systems) techniques.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3D nano printing (e.g., two-photon lithography).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DNA origami, molecular self-assembly.</a:t>
            </a:r>
          </a:p>
          <a:p>
            <a:pPr lvl="1"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  <a:buNone/>
            </a:pPr>
            <a:r>
              <a:rPr lang="en-IN" b="1" dirty="0"/>
              <a:t>4 . Sensing and Control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Challenge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: </a:t>
            </a:r>
            <a:r>
              <a:rPr lang="en-IN" dirty="0"/>
              <a:t>Limited space and power for traditional sensors and processors.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Solutions</a:t>
            </a:r>
            <a:r>
              <a:rPr lang="en-IN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Use of external sensors (microscopy, magnetic resonance).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On-board smart materials or chemical sensors.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Swarm intelligence or bio-inspired decentralized control.</a:t>
            </a:r>
          </a:p>
        </p:txBody>
      </p:sp>
    </p:spTree>
    <p:extLst>
      <p:ext uri="{BB962C8B-B14F-4D97-AF65-F5344CB8AC3E}">
        <p14:creationId xmlns:p14="http://schemas.microsoft.com/office/powerpoint/2010/main" val="266470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076EA-9170-21C3-F1C6-307A7379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7A9FD5-C4C8-F041-9DBF-6E779AA84F49}"/>
              </a:ext>
            </a:extLst>
          </p:cNvPr>
          <p:cNvSpPr txBox="1"/>
          <p:nvPr/>
        </p:nvSpPr>
        <p:spPr>
          <a:xfrm>
            <a:off x="4511040" y="224909"/>
            <a:ext cx="292608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Engineering Challenges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F625B-B3D3-017F-9329-A39B2E0E1471}"/>
              </a:ext>
            </a:extLst>
          </p:cNvPr>
          <p:cNvSpPr txBox="1"/>
          <p:nvPr/>
        </p:nvSpPr>
        <p:spPr>
          <a:xfrm>
            <a:off x="228600" y="224909"/>
            <a:ext cx="256222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Scaling Laws</a:t>
            </a:r>
            <a:endParaRPr lang="en-IN" sz="20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611F05-5D0C-A0D9-614B-AE65A225C450}"/>
              </a:ext>
            </a:extLst>
          </p:cNvPr>
          <p:cNvSpPr txBox="1"/>
          <p:nvPr/>
        </p:nvSpPr>
        <p:spPr>
          <a:xfrm>
            <a:off x="487680" y="1238469"/>
            <a:ext cx="10231120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5. Communication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C00000"/>
                </a:solidFill>
              </a:rPr>
              <a:t>    </a:t>
            </a:r>
            <a:r>
              <a:rPr lang="en-IN" b="1" dirty="0">
                <a:solidFill>
                  <a:srgbClr val="C00000"/>
                </a:solidFill>
              </a:rPr>
              <a:t>Challenge: </a:t>
            </a:r>
            <a:r>
              <a:rPr lang="en-IN" dirty="0"/>
              <a:t>No room for standard antennas; low signal-to-noise ratio.</a:t>
            </a:r>
          </a:p>
          <a:p>
            <a:pPr>
              <a:lnSpc>
                <a:spcPct val="150000"/>
              </a:lnSpc>
            </a:pPr>
            <a:r>
              <a:rPr lang="en-IN" b="1" dirty="0"/>
              <a:t>    Solutions:</a:t>
            </a:r>
          </a:p>
          <a:p>
            <a:pPr marL="18796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       Optical signaling (light pulses).</a:t>
            </a:r>
          </a:p>
          <a:p>
            <a:pPr marL="18796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       Magnetic field modulation.</a:t>
            </a:r>
          </a:p>
          <a:p>
            <a:pPr marL="187960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       Molecular signaling (for bio-hybrid systems).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6.  Integration and Biocompatibility</a:t>
            </a:r>
          </a:p>
          <a:p>
            <a:pPr>
              <a:lnSpc>
                <a:spcPct val="150000"/>
              </a:lnSpc>
            </a:pPr>
            <a:r>
              <a:rPr lang="en-IN" dirty="0"/>
              <a:t>    </a:t>
            </a:r>
            <a:r>
              <a:rPr lang="en-IN" b="1" dirty="0">
                <a:solidFill>
                  <a:srgbClr val="C00000"/>
                </a:solidFill>
              </a:rPr>
              <a:t>Challenge</a:t>
            </a:r>
            <a:r>
              <a:rPr lang="en-IN" dirty="0">
                <a:solidFill>
                  <a:srgbClr val="C00000"/>
                </a:solidFill>
              </a:rPr>
              <a:t>: </a:t>
            </a:r>
            <a:r>
              <a:rPr lang="en-IN" dirty="0"/>
              <a:t>Integration of components in a biocompatible, robust form.</a:t>
            </a:r>
          </a:p>
          <a:p>
            <a:pPr>
              <a:lnSpc>
                <a:spcPct val="150000"/>
              </a:lnSpc>
            </a:pPr>
            <a:r>
              <a:rPr lang="en-IN" dirty="0"/>
              <a:t>    </a:t>
            </a:r>
            <a:r>
              <a:rPr lang="en-IN" b="1" dirty="0"/>
              <a:t>Solutions:</a:t>
            </a:r>
          </a:p>
          <a:p>
            <a:pPr marL="2244725" indent="-10064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  Use of soft materials (hydrogels, biopolymers).</a:t>
            </a:r>
          </a:p>
          <a:p>
            <a:pPr marL="2244725" indent="-10064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  Encapsulation with biocompatible coatings.</a:t>
            </a:r>
          </a:p>
          <a:p>
            <a:pPr marL="2244725" indent="-1006475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/>
              <a:t>   Leveraging biological components (e.g., bacteria or cells as motors).</a:t>
            </a:r>
          </a:p>
        </p:txBody>
      </p:sp>
    </p:spTree>
    <p:extLst>
      <p:ext uri="{BB962C8B-B14F-4D97-AF65-F5344CB8AC3E}">
        <p14:creationId xmlns:p14="http://schemas.microsoft.com/office/powerpoint/2010/main" val="13039666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05118CE0-924A-272C-DFCA-62EB7B048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39" y="903345"/>
            <a:ext cx="11538678" cy="57421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981C50-0D1E-8C9B-315D-5D806E469B58}"/>
              </a:ext>
            </a:extLst>
          </p:cNvPr>
          <p:cNvSpPr txBox="1"/>
          <p:nvPr/>
        </p:nvSpPr>
        <p:spPr>
          <a:xfrm>
            <a:off x="2946478" y="11086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HISTORICAL DEVELOPMENT AND MILESTONES</a:t>
            </a:r>
          </a:p>
        </p:txBody>
      </p:sp>
    </p:spTree>
    <p:extLst>
      <p:ext uri="{BB962C8B-B14F-4D97-AF65-F5344CB8AC3E}">
        <p14:creationId xmlns:p14="http://schemas.microsoft.com/office/powerpoint/2010/main" val="3105802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D2FBF-1D67-FF26-A33C-5B173E2E1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2AD3AB-08EE-6984-DFAF-3BCDC61CCCEE}"/>
              </a:ext>
            </a:extLst>
          </p:cNvPr>
          <p:cNvSpPr txBox="1"/>
          <p:nvPr/>
        </p:nvSpPr>
        <p:spPr>
          <a:xfrm>
            <a:off x="2946478" y="110865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HISTORICAL DEVELOPMENT AND MILESTONES</a:t>
            </a:r>
          </a:p>
        </p:txBody>
      </p:sp>
      <p:pic>
        <p:nvPicPr>
          <p:cNvPr id="3" name="Picture 2" descr="A timeline of a timeline&#10;&#10;AI-generated content may be incorrect.">
            <a:extLst>
              <a:ext uri="{FF2B5EF4-FFF2-40B4-BE49-F238E27FC236}">
                <a16:creationId xmlns:a16="http://schemas.microsoft.com/office/drawing/2014/main" id="{C8AD0151-F916-B2D0-F054-2C9CF8D6E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78" y="1361355"/>
            <a:ext cx="11915243" cy="413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40095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6947B-8C84-280F-2EF5-A0FF5819E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A55D0C0-4C4A-3769-C8CC-85C643B68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79" y="0"/>
            <a:ext cx="108857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5760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1DB2B7-0508-4985-8F44-73B363E7FE85}"/>
              </a:ext>
            </a:extLst>
          </p:cNvPr>
          <p:cNvSpPr txBox="1"/>
          <p:nvPr/>
        </p:nvSpPr>
        <p:spPr>
          <a:xfrm>
            <a:off x="2712720" y="94734"/>
            <a:ext cx="676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FUNDAMENTAL PRINCIPLES OF MICRO AND NANO ROBOTICS.</a:t>
            </a:r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63A40C-11DB-82D8-E397-514E13AC8F94}"/>
              </a:ext>
            </a:extLst>
          </p:cNvPr>
          <p:cNvSpPr txBox="1"/>
          <p:nvPr/>
        </p:nvSpPr>
        <p:spPr>
          <a:xfrm>
            <a:off x="254000" y="575063"/>
            <a:ext cx="11704320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fundamental principles of micro and nano robotics revolve around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designing, fabricating</a:t>
            </a:r>
            <a:r>
              <a:rPr lang="en-US" dirty="0"/>
              <a:t>, and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controlling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robots </a:t>
            </a:r>
            <a:r>
              <a:rPr lang="en-US" dirty="0"/>
              <a:t>at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microscopic</a:t>
            </a:r>
            <a:r>
              <a:rPr lang="en-US" dirty="0"/>
              <a:t> (micrometer) and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nanoscopic</a:t>
            </a:r>
            <a:r>
              <a:rPr lang="en-US" dirty="0"/>
              <a:t> (nanometer) scales. </a:t>
            </a:r>
            <a:endParaRPr lang="en-IN" dirty="0"/>
          </a:p>
        </p:txBody>
      </p:sp>
      <p:pic>
        <p:nvPicPr>
          <p:cNvPr id="9" name="Picture 8" descr="A diagram of a machine learning&#10;&#10;AI-generated content may be incorrect.">
            <a:extLst>
              <a:ext uri="{FF2B5EF4-FFF2-40B4-BE49-F238E27FC236}">
                <a16:creationId xmlns:a16="http://schemas.microsoft.com/office/drawing/2014/main" id="{F624449B-44A6-374F-7CFC-ACB5CB1BE2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4121" y="1569443"/>
            <a:ext cx="5880924" cy="528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3730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E021-1D86-D8AF-34C7-D1BBF1AD1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519C5D-FF26-F217-11DB-6EC2855095D0}"/>
              </a:ext>
            </a:extLst>
          </p:cNvPr>
          <p:cNvSpPr txBox="1"/>
          <p:nvPr/>
        </p:nvSpPr>
        <p:spPr>
          <a:xfrm>
            <a:off x="2712720" y="94734"/>
            <a:ext cx="676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FUNDAMENTAL PRINCIPLES OF MICRO AND NANO ROBOTICS.</a:t>
            </a:r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7F11B9-0CE1-6F33-AB8A-34B0DF5F9B4F}"/>
              </a:ext>
            </a:extLst>
          </p:cNvPr>
          <p:cNvSpPr txBox="1"/>
          <p:nvPr/>
        </p:nvSpPr>
        <p:spPr>
          <a:xfrm>
            <a:off x="264160" y="766356"/>
            <a:ext cx="11247120" cy="1125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fundamental principles of micro and nano robotics revolve around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designing, fabricating</a:t>
            </a:r>
            <a:r>
              <a:rPr lang="en-US" dirty="0"/>
              <a:t>, and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controlling</a:t>
            </a:r>
            <a:r>
              <a:rPr lang="en-US" dirty="0"/>
              <a:t>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robots </a:t>
            </a:r>
            <a:r>
              <a:rPr lang="en-US" dirty="0"/>
              <a:t>at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microscopic</a:t>
            </a:r>
            <a:r>
              <a:rPr lang="en-US" dirty="0"/>
              <a:t> (micrometer) and 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nanoscopic</a:t>
            </a:r>
            <a:r>
              <a:rPr lang="en-US" dirty="0"/>
              <a:t> (nanometer) scales.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CA663F-A081-1FB2-58C0-7ADFA44143D3}"/>
              </a:ext>
            </a:extLst>
          </p:cNvPr>
          <p:cNvSpPr txBox="1"/>
          <p:nvPr/>
        </p:nvSpPr>
        <p:spPr>
          <a:xfrm>
            <a:off x="518160" y="2174300"/>
            <a:ext cx="11247120" cy="3999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IN" b="1" dirty="0">
                <a:solidFill>
                  <a:srgbClr val="FF0000"/>
                </a:solidFill>
              </a:rPr>
              <a:t>1. Scale-Dependent Physics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Low Reynolds Number Regime</a:t>
            </a:r>
            <a:r>
              <a:rPr lang="en-IN" b="1" dirty="0"/>
              <a:t>: </a:t>
            </a:r>
            <a:r>
              <a:rPr lang="en-IN" dirty="0"/>
              <a:t>At micro and nano scales, fluid dynamics behave differently. Inertia becomes negligible, and viscous forces dominate.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Brownian Motion</a:t>
            </a:r>
            <a:r>
              <a:rPr lang="en-IN" dirty="0"/>
              <a:t>: Random thermal motion affects the stability and predictability of nano-robots.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Surface Forces</a:t>
            </a:r>
            <a:r>
              <a:rPr lang="en-IN" b="1" dirty="0"/>
              <a:t>: </a:t>
            </a:r>
            <a:r>
              <a:rPr lang="en-IN" dirty="0"/>
              <a:t>Electrostatic, van der Waals, and surface tension forces dominate over gravitational or inertial forces.</a:t>
            </a:r>
          </a:p>
        </p:txBody>
      </p:sp>
    </p:spTree>
    <p:extLst>
      <p:ext uri="{BB962C8B-B14F-4D97-AF65-F5344CB8AC3E}">
        <p14:creationId xmlns:p14="http://schemas.microsoft.com/office/powerpoint/2010/main" val="40985857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F0CCB-35F1-2F6D-1C15-9AB68DC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25CCBC-B5B2-9513-A687-CA55D075B495}"/>
              </a:ext>
            </a:extLst>
          </p:cNvPr>
          <p:cNvSpPr txBox="1"/>
          <p:nvPr/>
        </p:nvSpPr>
        <p:spPr>
          <a:xfrm>
            <a:off x="2712720" y="94734"/>
            <a:ext cx="676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FUNDAMENTAL PRINCIPLES OF MICRO AND NANO ROBOTICS.</a:t>
            </a:r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5F78FF-8484-0295-8D9E-9F529D94012A}"/>
              </a:ext>
            </a:extLst>
          </p:cNvPr>
          <p:cNvSpPr txBox="1"/>
          <p:nvPr/>
        </p:nvSpPr>
        <p:spPr>
          <a:xfrm>
            <a:off x="421640" y="833180"/>
            <a:ext cx="11526520" cy="5003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/>
              <a:t>2. </a:t>
            </a: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Actuation Mechanisms</a:t>
            </a:r>
          </a:p>
          <a:p>
            <a:pPr>
              <a:lnSpc>
                <a:spcPct val="200000"/>
              </a:lnSpc>
            </a:pP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External Fields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Magnetic fields</a:t>
            </a:r>
            <a:r>
              <a:rPr lang="en-IN" dirty="0"/>
              <a:t> (e.g., magnetically driven micro-swimmers)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Electric fields</a:t>
            </a:r>
            <a:r>
              <a:rPr lang="en-IN" dirty="0"/>
              <a:t> (dielectrophoresis)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Acoustic waves</a:t>
            </a:r>
            <a:r>
              <a:rPr lang="en-IN" dirty="0"/>
              <a:t> (ultrasound propulsion)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Light</a:t>
            </a:r>
            <a:r>
              <a:rPr lang="en-IN" dirty="0"/>
              <a:t> (optically driven nanomotors)</a:t>
            </a:r>
          </a:p>
          <a:p>
            <a:pPr>
              <a:lnSpc>
                <a:spcPct val="200000"/>
              </a:lnSpc>
            </a:pPr>
            <a:r>
              <a:rPr lang="en-IN" b="1" dirty="0"/>
              <a:t>Chemical Reactions</a:t>
            </a:r>
            <a:r>
              <a:rPr lang="en-IN" dirty="0"/>
              <a:t>: Some nano-robots are powered by catalytic reactions (e.g., hydrogen peroxide as a fuel source).</a:t>
            </a:r>
          </a:p>
          <a:p>
            <a:pPr>
              <a:lnSpc>
                <a:spcPct val="200000"/>
              </a:lnSpc>
            </a:pPr>
            <a:r>
              <a:rPr lang="en-IN" b="1" dirty="0"/>
              <a:t>Bio-hybrid Actuators</a:t>
            </a:r>
            <a:r>
              <a:rPr lang="en-IN" dirty="0"/>
              <a:t>: Integration of biological elements (e.g., bacteria, flagella) for propulsion.</a:t>
            </a:r>
          </a:p>
        </p:txBody>
      </p:sp>
    </p:spTree>
    <p:extLst>
      <p:ext uri="{BB962C8B-B14F-4D97-AF65-F5344CB8AC3E}">
        <p14:creationId xmlns:p14="http://schemas.microsoft.com/office/powerpoint/2010/main" val="81242638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8D63D-CCAD-2E11-7995-EB6D97ADE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5BE9A3-72E6-ACE5-0D25-A6FC85093731}"/>
              </a:ext>
            </a:extLst>
          </p:cNvPr>
          <p:cNvSpPr txBox="1"/>
          <p:nvPr/>
        </p:nvSpPr>
        <p:spPr>
          <a:xfrm>
            <a:off x="2712720" y="94734"/>
            <a:ext cx="6766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FUNDAMENTAL PRINCIPLES OF MICRO AND NANO ROBOTICS.</a:t>
            </a:r>
            <a:endParaRPr lang="en-IN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DD381B-7054-3F45-ECA0-67ED2D08E5AE}"/>
              </a:ext>
            </a:extLst>
          </p:cNvPr>
          <p:cNvSpPr txBox="1"/>
          <p:nvPr/>
        </p:nvSpPr>
        <p:spPr>
          <a:xfrm>
            <a:off x="508000" y="749776"/>
            <a:ext cx="10911840" cy="1298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3. Fabrication Techniques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Top-down</a:t>
            </a:r>
            <a:r>
              <a:rPr lang="en-US" dirty="0"/>
              <a:t>: Lithography, etching techniques, and MEMS (Micro-Electro-Mechanical Systems) fabrication.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Bottom-up</a:t>
            </a:r>
            <a:r>
              <a:rPr lang="en-US" dirty="0"/>
              <a:t>: Self-assembly of molecules, chemical synthesis, and biofabrication.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9737B7-A7AA-90AA-D9EF-E852178052F4}"/>
              </a:ext>
            </a:extLst>
          </p:cNvPr>
          <p:cNvSpPr txBox="1"/>
          <p:nvPr/>
        </p:nvSpPr>
        <p:spPr>
          <a:xfrm>
            <a:off x="508000" y="2334368"/>
            <a:ext cx="10657840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4. Sensing and Control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Sensing</a:t>
            </a:r>
            <a:r>
              <a:rPr lang="en-US" dirty="0"/>
              <a:t>: Use of nanosensors to detect chemical, optical, or magnetic signals.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Control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Autonomous behavior through onboard logic or stimulus-response systems.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Remote control via electromagnetic, optical, or acoustic stimuli.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07020E-4754-F81A-E85B-79E3CB992C98}"/>
              </a:ext>
            </a:extLst>
          </p:cNvPr>
          <p:cNvSpPr txBox="1"/>
          <p:nvPr/>
        </p:nvSpPr>
        <p:spPr>
          <a:xfrm>
            <a:off x="589280" y="4719476"/>
            <a:ext cx="10830560" cy="171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5. Locomotion Strategies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Flagella-based motion</a:t>
            </a:r>
            <a:r>
              <a:rPr lang="en-IN" dirty="0"/>
              <a:t>: Inspired by bacteria like </a:t>
            </a:r>
            <a:r>
              <a:rPr lang="en-IN" i="1" dirty="0"/>
              <a:t>E. coli</a:t>
            </a:r>
            <a:r>
              <a:rPr lang="en-IN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Helical propulsion</a:t>
            </a:r>
            <a:r>
              <a:rPr lang="en-IN" dirty="0"/>
              <a:t>: Screw-like movement under rotating magnetic fields.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Surface walking</a:t>
            </a:r>
            <a:r>
              <a:rPr lang="en-IN" dirty="0"/>
              <a:t>: Using electrostatic or piezoelectric walking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23362561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5D0393-D4F1-FE11-D130-ADE91332EEE5}"/>
              </a:ext>
            </a:extLst>
          </p:cNvPr>
          <p:cNvSpPr txBox="1"/>
          <p:nvPr/>
        </p:nvSpPr>
        <p:spPr>
          <a:xfrm>
            <a:off x="4719320" y="115054"/>
            <a:ext cx="3063240" cy="40011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MEDICAL APPLICATIONS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CFDAC8-7AEE-5E10-AD04-2300D2492E23}"/>
              </a:ext>
            </a:extLst>
          </p:cNvPr>
          <p:cNvSpPr txBox="1"/>
          <p:nvPr/>
        </p:nvSpPr>
        <p:spPr>
          <a:xfrm>
            <a:off x="238760" y="1344693"/>
            <a:ext cx="11470640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Targeted Drug Delivery</a:t>
            </a:r>
          </a:p>
          <a:p>
            <a:pPr marL="630238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Deliver drugs directly to specific tissues or cells (e.g., cancer cells), reducing side effects.</a:t>
            </a:r>
          </a:p>
          <a:p>
            <a:pPr marL="630238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E.g.: Magnetic or chemically driven nano-swimmers delivering chemotherapy agents to tumors.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Minimally Invasive Surgery</a:t>
            </a:r>
          </a:p>
          <a:p>
            <a:pPr marL="630238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Navigate through blood vessels or organs to perform tasks like clearing blockages or repairing tissues.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Cellular and Genetic Manipulation</a:t>
            </a:r>
          </a:p>
          <a:p>
            <a:pPr marL="630238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Perform microsurgery on individual cells (e.g., injecting DNA or editing genes at the cellular level).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Real-Time Diagnosis and Biosensing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Detect biomarkers or pathogens within the body using embedded nanosensors.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E.g.: Detecting early-stage tumors by binding to specific cancer markers.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Wound Healing and Tissue Regeneration</a:t>
            </a:r>
          </a:p>
          <a:p>
            <a:pPr marL="53816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Guide stem cells or deliver growth factors to injured areas to accelerate healing.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7D29F-3091-B3B1-D8F2-C7DCB25772A2}"/>
              </a:ext>
            </a:extLst>
          </p:cNvPr>
          <p:cNvSpPr txBox="1"/>
          <p:nvPr/>
        </p:nvSpPr>
        <p:spPr>
          <a:xfrm>
            <a:off x="314960" y="745262"/>
            <a:ext cx="1131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Micro and nano robots are transforming medicine by enabling ultra-precise, minimally invasive procedures.</a:t>
            </a:r>
            <a:endParaRPr lang="en-IN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154402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FEB8A-2106-A243-14A1-736168FF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BEC85F-C39E-86AA-D8E5-A0CE06A01FE9}"/>
              </a:ext>
            </a:extLst>
          </p:cNvPr>
          <p:cNvSpPr txBox="1"/>
          <p:nvPr/>
        </p:nvSpPr>
        <p:spPr>
          <a:xfrm>
            <a:off x="4010660" y="135374"/>
            <a:ext cx="4170680" cy="400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MANUFACTURING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C254B-9560-1567-F782-3D989CCDF80A}"/>
              </a:ext>
            </a:extLst>
          </p:cNvPr>
          <p:cNvSpPr txBox="1"/>
          <p:nvPr/>
        </p:nvSpPr>
        <p:spPr>
          <a:xfrm>
            <a:off x="518160" y="982402"/>
            <a:ext cx="10718800" cy="5523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  <a:buNone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a. Micro-Assembly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Assembling micro-components in MEMS (Micro-Electro-Mechanical Systems), electronics, or optics.</a:t>
            </a:r>
          </a:p>
          <a:p>
            <a:pPr>
              <a:lnSpc>
                <a:spcPct val="250000"/>
              </a:lnSpc>
              <a:buNone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b. Nanofabrication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Creating nano-scale devices and circuits using robotic manipulation of atoms and molecules.</a:t>
            </a:r>
          </a:p>
          <a:p>
            <a:pPr>
              <a:lnSpc>
                <a:spcPct val="250000"/>
              </a:lnSpc>
              <a:buNone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c. Quality Control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Inspecting defects or contaminants in microelectronics and materials using robotic sensors.</a:t>
            </a:r>
          </a:p>
          <a:p>
            <a:pPr algn="just">
              <a:lnSpc>
                <a:spcPct val="250000"/>
              </a:lnSpc>
              <a:buNone/>
            </a:pPr>
            <a:r>
              <a:rPr lang="en-IN" b="1" dirty="0">
                <a:solidFill>
                  <a:schemeClr val="accent4">
                    <a:lumMod val="75000"/>
                  </a:schemeClr>
                </a:solidFill>
              </a:rPr>
              <a:t>d. 3D Printing at Micro/Nano Scales</a:t>
            </a:r>
          </a:p>
          <a:p>
            <a:pPr marL="285750" indent="-28575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IN" dirty="0"/>
              <a:t>Precision deposition and manipulation to build tiny components layer by layer.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AC95D4-6EDF-7C4E-96A1-0A4E4AA56A0C}"/>
              </a:ext>
            </a:extLst>
          </p:cNvPr>
          <p:cNvSpPr txBox="1"/>
          <p:nvPr/>
        </p:nvSpPr>
        <p:spPr>
          <a:xfrm>
            <a:off x="518160" y="694350"/>
            <a:ext cx="7988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Micro and nano robots enable the next generation of precision manufacturing.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19008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22EEE-C8AC-F0D4-DD9F-65231AB93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8DC8A09-A4FA-1BC0-658A-957E21975967}"/>
              </a:ext>
            </a:extLst>
          </p:cNvPr>
          <p:cNvSpPr txBox="1"/>
          <p:nvPr/>
        </p:nvSpPr>
        <p:spPr>
          <a:xfrm>
            <a:off x="3849370" y="115054"/>
            <a:ext cx="4493260" cy="40011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IN" sz="2000" b="1" dirty="0"/>
              <a:t>SPACE EXPLORATION APPLICATIONS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BAB77C-FEEE-63A3-193E-F803F92FD03E}"/>
              </a:ext>
            </a:extLst>
          </p:cNvPr>
          <p:cNvSpPr txBox="1"/>
          <p:nvPr/>
        </p:nvSpPr>
        <p:spPr>
          <a:xfrm>
            <a:off x="609600" y="858688"/>
            <a:ext cx="10495280" cy="5523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250000"/>
              </a:lnSpc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Exploration of Hostile Environments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Swarm of nano-robots can explore tight or dangerous environments (lava tubes, Martian soil, etc.).</a:t>
            </a:r>
          </a:p>
          <a:p>
            <a:pPr algn="just">
              <a:lnSpc>
                <a:spcPct val="250000"/>
              </a:lnSpc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b. In-situ Resource Utilization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Assist in mining or processing extraterrestrial materials on the Moon or Mars.</a:t>
            </a:r>
          </a:p>
          <a:p>
            <a:pPr algn="just">
              <a:lnSpc>
                <a:spcPct val="250000"/>
              </a:lnSpc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c. Structural Health Monitoring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Inspect spacecraft and space station components for microfractures or degradation.</a:t>
            </a:r>
          </a:p>
          <a:p>
            <a:pPr algn="just">
              <a:lnSpc>
                <a:spcPct val="250000"/>
              </a:lnSpc>
              <a:buNone/>
            </a:pP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d. Scientific Research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Conduct detailed surface and atmospheric analysis at microscopic levels.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238DFD-3599-0B14-1BF0-58AFB73801D1}"/>
              </a:ext>
            </a:extLst>
          </p:cNvPr>
          <p:cNvSpPr txBox="1"/>
          <p:nvPr/>
        </p:nvSpPr>
        <p:spPr>
          <a:xfrm>
            <a:off x="609600" y="674022"/>
            <a:ext cx="1041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Their small size and energy efficiency make micro and nano robots ideal for extraterrestrial missions.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5197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DB85CB-C2E0-C1C6-EE51-BA338A6F27A5}"/>
              </a:ext>
            </a:extLst>
          </p:cNvPr>
          <p:cNvSpPr txBox="1"/>
          <p:nvPr/>
        </p:nvSpPr>
        <p:spPr>
          <a:xfrm>
            <a:off x="5236845" y="3028890"/>
            <a:ext cx="1718310" cy="400110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2000" b="1" dirty="0"/>
              <a:t>E</a:t>
            </a:r>
            <a:r>
              <a:rPr lang="en-IN" sz="2000" b="1" dirty="0"/>
              <a:t>ND</a:t>
            </a:r>
          </a:p>
        </p:txBody>
      </p:sp>
    </p:spTree>
    <p:extLst>
      <p:ext uri="{BB962C8B-B14F-4D97-AF65-F5344CB8AC3E}">
        <p14:creationId xmlns:p14="http://schemas.microsoft.com/office/powerpoint/2010/main" val="2066297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3418</Words>
  <Application>Microsoft Office PowerPoint</Application>
  <PresentationFormat>Widescreen</PresentationFormat>
  <Paragraphs>437</Paragraphs>
  <Slides>45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 S Mahesh</dc:creator>
  <cp:lastModifiedBy>Mahesh</cp:lastModifiedBy>
  <cp:revision>199</cp:revision>
  <dcterms:created xsi:type="dcterms:W3CDTF">2025-06-30T13:47:58Z</dcterms:created>
  <dcterms:modified xsi:type="dcterms:W3CDTF">2026-08-13T06:06:13Z</dcterms:modified>
</cp:coreProperties>
</file>